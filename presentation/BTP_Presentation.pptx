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92117c2e424590" /><Relationship Type="http://schemas.openxmlformats.org/officeDocument/2006/relationships/extended-properties" Target="/docProps/app.xml" Id="R48c5ffd7f5d04e91" /><Relationship Type="http://schemas.openxmlformats.org/officeDocument/2006/relationships/officeDocument" Target="/ppt/presentation.xml" Id="Rae29bfade8a94a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f3c21a5154da8"/>
  </p:sldMasterIdLst>
  <p:notesMasterIdLst>
    <p:notesMasterId xmlns:r="http://schemas.openxmlformats.org/officeDocument/2006/relationships" r:id="Rc21f520c00a14abc"/>
  </p:notesMasterIdLst>
  <p:sldIdLst>
    <p:sldId xmlns:r="http://schemas.openxmlformats.org/officeDocument/2006/relationships" id="256" r:id="R70fc4aa89aca42a7"/>
    <p:sldId xmlns:r="http://schemas.openxmlformats.org/officeDocument/2006/relationships" id="257" r:id="R6185f5edc7744e5a"/>
    <p:sldId xmlns:r="http://schemas.openxmlformats.org/officeDocument/2006/relationships" id="258" r:id="R757bb3ceffd645e4"/>
    <p:sldId xmlns:r="http://schemas.openxmlformats.org/officeDocument/2006/relationships" id="259" r:id="Rfb4a0c29a428457f"/>
    <p:sldId xmlns:r="http://schemas.openxmlformats.org/officeDocument/2006/relationships" id="260" r:id="R76dc1c6323d5475e"/>
    <p:sldId xmlns:r="http://schemas.openxmlformats.org/officeDocument/2006/relationships" id="261" r:id="Ra5f70ca69fa84f76"/>
    <p:sldId xmlns:r="http://schemas.openxmlformats.org/officeDocument/2006/relationships" id="262" r:id="Ra592aeaad9e64411"/>
    <p:sldId xmlns:r="http://schemas.openxmlformats.org/officeDocument/2006/relationships" id="263" r:id="Rc795722e73024e25"/>
    <p:sldId xmlns:r="http://schemas.openxmlformats.org/officeDocument/2006/relationships" id="264" r:id="R1f1c2a1fc46b446d"/>
    <p:sldId xmlns:r="http://schemas.openxmlformats.org/officeDocument/2006/relationships" id="265" r:id="R7004abbb5f0143a9"/>
    <p:sldId xmlns:r="http://schemas.openxmlformats.org/officeDocument/2006/relationships" id="266" r:id="R4ab17d2de0cc4393"/>
    <p:sldId xmlns:r="http://schemas.openxmlformats.org/officeDocument/2006/relationships" id="267" r:id="R3430630c4bea4446"/>
    <p:sldId xmlns:r="http://schemas.openxmlformats.org/officeDocument/2006/relationships" id="268" r:id="Rdd0719943b434cde"/>
    <p:sldId xmlns:r="http://schemas.openxmlformats.org/officeDocument/2006/relationships" id="269" r:id="R3cdfb259f7284b7f"/>
    <p:sldId xmlns:r="http://schemas.openxmlformats.org/officeDocument/2006/relationships" id="270" r:id="Ra424ccb64fdf45c4"/>
    <p:sldId xmlns:r="http://schemas.openxmlformats.org/officeDocument/2006/relationships" id="271" r:id="Ra2c06492692a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8e7d0831b41b8" /><Relationship Type="http://schemas.openxmlformats.org/officeDocument/2006/relationships/slideMaster" Target="/ppt/slideMasters/slideMaster1.xml" Id="Rddff3c21a5154da8" /><Relationship Type="http://schemas.openxmlformats.org/officeDocument/2006/relationships/notesMaster" Target="/ppt/notesMasters/notesMaster1.xml" Id="Rc21f520c00a14abc" /><Relationship Type="http://schemas.openxmlformats.org/officeDocument/2006/relationships/presProps" Target="/ppt/presProps.xml" Id="Rd25a6b28049f477b" /><Relationship Type="http://schemas.openxmlformats.org/officeDocument/2006/relationships/tableStyles" Target="/ppt/tableStyles.xml" Id="Rd436ca0ed93343f7" /><Relationship Type="http://schemas.openxmlformats.org/officeDocument/2006/relationships/slide" Target="/ppt/slides/slide1.xml" Id="R70fc4aa89aca42a7" /><Relationship Type="http://schemas.openxmlformats.org/officeDocument/2006/relationships/slide" Target="/ppt/slides/slide2.xml" Id="R6185f5edc7744e5a" /><Relationship Type="http://schemas.openxmlformats.org/officeDocument/2006/relationships/slide" Target="/ppt/slides/slide3.xml" Id="R757bb3ceffd645e4" /><Relationship Type="http://schemas.openxmlformats.org/officeDocument/2006/relationships/slide" Target="/ppt/slides/slide4.xml" Id="Rfb4a0c29a428457f" /><Relationship Type="http://schemas.openxmlformats.org/officeDocument/2006/relationships/slide" Target="/ppt/slides/slide5.xml" Id="R76dc1c6323d5475e" /><Relationship Type="http://schemas.openxmlformats.org/officeDocument/2006/relationships/slide" Target="/ppt/slides/slide6.xml" Id="Ra5f70ca69fa84f76" /><Relationship Type="http://schemas.openxmlformats.org/officeDocument/2006/relationships/slide" Target="/ppt/slides/slide7.xml" Id="Ra592aeaad9e64411" /><Relationship Type="http://schemas.openxmlformats.org/officeDocument/2006/relationships/slide" Target="/ppt/slides/slide8.xml" Id="Rc795722e73024e25" /><Relationship Type="http://schemas.openxmlformats.org/officeDocument/2006/relationships/slide" Target="/ppt/slides/slide9.xml" Id="R1f1c2a1fc46b446d" /><Relationship Type="http://schemas.openxmlformats.org/officeDocument/2006/relationships/slide" Target="/ppt/slides/slide10.xml" Id="R7004abbb5f0143a9" /><Relationship Type="http://schemas.openxmlformats.org/officeDocument/2006/relationships/slide" Target="/ppt/slides/slide11.xml" Id="R4ab17d2de0cc4393" /><Relationship Type="http://schemas.openxmlformats.org/officeDocument/2006/relationships/slide" Target="/ppt/slides/slide12.xml" Id="R3430630c4bea4446" /><Relationship Type="http://schemas.openxmlformats.org/officeDocument/2006/relationships/slide" Target="/ppt/slides/slide13.xml" Id="Rdd0719943b434cde" /><Relationship Type="http://schemas.openxmlformats.org/officeDocument/2006/relationships/slide" Target="/ppt/slides/slide14.xml" Id="R3cdfb259f7284b7f" /><Relationship Type="http://schemas.openxmlformats.org/officeDocument/2006/relationships/slide" Target="/ppt/slides/slide15.xml" Id="Ra424ccb64fdf45c4" /><Relationship Type="http://schemas.openxmlformats.org/officeDocument/2006/relationships/slide" Target="/ppt/slides/slide16.xml" Id="Ra2c06492692a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f7f9834c3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67b6b4b274958" /><Relationship Type="http://schemas.openxmlformats.org/officeDocument/2006/relationships/notesMaster" Target="/ppt/notesMasters/notesMaster1.xml" Id="Rf5495bd15731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7e63e1f014706" /><Relationship Type="http://schemas.openxmlformats.org/officeDocument/2006/relationships/notesMaster" Target="/ppt/notesMasters/notesMaster1.xml" Id="R042038b073f84c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f88ea6a8a4da1" /><Relationship Type="http://schemas.openxmlformats.org/officeDocument/2006/relationships/notesMaster" Target="/ppt/notesMasters/notesMaster1.xml" Id="Rb36a71fba01041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4115de78db45ba" /><Relationship Type="http://schemas.openxmlformats.org/officeDocument/2006/relationships/notesMaster" Target="/ppt/notesMasters/notesMaster1.xml" Id="R304f1039411b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1aa92675a4df4" /><Relationship Type="http://schemas.openxmlformats.org/officeDocument/2006/relationships/notesMaster" Target="/ppt/notesMasters/notesMaster1.xml" Id="Reb8b51e59472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be0dad31fa4e72" /><Relationship Type="http://schemas.openxmlformats.org/officeDocument/2006/relationships/notesMaster" Target="/ppt/notesMasters/notesMaster1.xml" Id="R8ddf4178536643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34c69273a455c" /><Relationship Type="http://schemas.openxmlformats.org/officeDocument/2006/relationships/notesMaster" Target="/ppt/notesMasters/notesMaster1.xml" Id="Rb6f63f5960ad44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5c42a95214759" /><Relationship Type="http://schemas.openxmlformats.org/officeDocument/2006/relationships/notesMaster" Target="/ppt/notesMasters/notesMaster1.xml" Id="R5d773e23d08345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1b598325c449f9" /><Relationship Type="http://schemas.openxmlformats.org/officeDocument/2006/relationships/notesMaster" Target="/ppt/notesMasters/notesMaster1.xml" Id="Rb4693f56f1d14b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32b59b32c84a95" /><Relationship Type="http://schemas.openxmlformats.org/officeDocument/2006/relationships/notesMaster" Target="/ppt/notesMasters/notesMaster1.xml" Id="Rd8e2a61f5b3244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f41ab6b604f38" /><Relationship Type="http://schemas.openxmlformats.org/officeDocument/2006/relationships/notesMaster" Target="/ppt/notesMasters/notesMaster1.xml" Id="Rdf46347ec8c14d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5a4fdab2864288" /><Relationship Type="http://schemas.openxmlformats.org/officeDocument/2006/relationships/notesMaster" Target="/ppt/notesMasters/notesMaster1.xml" Id="Rb2d79326c8f84d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008e25183f4ebc" /><Relationship Type="http://schemas.openxmlformats.org/officeDocument/2006/relationships/notesMaster" Target="/ppt/notesMasters/notesMaster1.xml" Id="R694b427b351a40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d6093430e245f4" /><Relationship Type="http://schemas.openxmlformats.org/officeDocument/2006/relationships/notesMaster" Target="/ppt/notesMasters/notesMaster1.xml" Id="Rc8220c8e27d440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2a7c6561fb4524" /><Relationship Type="http://schemas.openxmlformats.org/officeDocument/2006/relationships/notesMaster" Target="/ppt/notesMasters/notesMaster1.xml" Id="R280965a0344c4f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bca3851ecc426e" /><Relationship Type="http://schemas.openxmlformats.org/officeDocument/2006/relationships/notesMaster" Target="/ppt/notesMasters/notesMaster1.xml" Id="R3b45c8b95692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Ayush Goel, 23CH10092. Supervisor: Prof. Nikita Saxena, Department of Chemical Engineering, IIT Kharagpur. Scope: supervised HGG/LGG baseline, not self-supervised pretraining. Sources: frozen GPU archive; BraTS official data description https://www.med.upenn.edu/cbica/brats2020/data.html. Emblem extracted without distortion from supplied report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results: cv5/cross_validation_metrics.json, pooled OOF predictions. Mean fold balanced accuracy is separately 84.57% with sample SD 5.65 percentage points. Loss issue verified after training; reported metrics are not changed. No clinical or external generalization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manifest.csv and verified local original cohort. Four modalities and organizer preprocessing: CBICA BraTS 2020 data page. 293/369 = 79.40%, 76/369 = 20.60%. The supplied segmentation is used only for ROI localization.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qa/test_BraTS20_Training_001.png from frozen GPU export. These are real patient data in processed form. Image is an illustration of input anatomy and preprocessing, not an explanation map or a segmentation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data_audit.csv, manifest.csv, src/btp3d/manifest.py, preprocess.py and dataset.py. Original audit orientation is recorded before canonical conversion; processed orientation is RAS. No site-held-out validation was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executed preprocessing code and checkpoint preprocess_config. ROI margin = 16, whole-brain margin = 0. Mask values are not input channels. Validation and test have no augmentation. Both crops change spatial context and relative tumour scale, so causal explanations of the crop effect remain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model.py and all seven best_model.pt files. Exact count 2,081,186. Residual learning: He et al., CVPR 2016, https://arxiv.org/abs/1512.03385. GroupNorm: Wu and He, ECCV 2018, https://arxiv.org/abs/1803.08494. This is a compact ResNet-18-style adaptation, not a novel architecture or MedicalNet-pretrained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fixed_split/history.csv and test_metrics.json; train.py. Selected on validation balanced accuracy, not minimum validation loss. AdamW: Loshchilov and Hutter, ICLR 2019, https://arxiv.org/abs/1711.05101. Loss interpretation follows PyTorch 2.11 CrossEntropyLoss mean reduction. See report section 4.7. No automatic optimizer-state resume in the current trainer.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cv5/fold_*/manifest.csv, cross_validate.py, and out_of_fold_predictions.csv. Each test fold is excluded from training and validation of its own model. Only seed 42 is used. No hyperparameter search or nested CV search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cv5/cross_validation_metrics.json and out_of_fold_predictions.csv. Main values recomputed directly from CSV. Pooled AUC = 0.8815115861. It is not the mean fold AUC of 0.9008313852. Majority-HGG baseline is an arithmetic reference, not a learned model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five fold test_metrics.json files and cross_validation_metrics.json/fold_summary. Mean fold BA = 0.8456825930, sample SD = 0.0565253285. LGG recall fold 2 = 0.6, fold 3 = 0.9375. No confidence interval, statistical-significance or additional-seed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fixed_split/test_metrics.json and whole_brain_fixed/test_metrics.json. BA difference = (0.7159090909 - 0.6590909091)*100 = 5.68181818 percentage points. Both evaluated on identical test patient IDs. ROI uses supplied mask + margin16, brain uses foreground + margin0. No paired significance test was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pooled OOF predictions and fixed_split/example_prediction.json. Confusion row and column order is LGG,HGG. ROC derived from CSV with HGG positive. The example is a held-out BraTS cohort patient, not an external validation patient. No probability calibration was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audit source: train.py uses nn.CrossEntropyLoss(weight=..., reduction default mean), physical batch size 1. PyTorch 2.11 docs https://docs.pytorch.org/docs/2.11/generated/torch.nn.CrossEntropyLoss.html. Numerically verified loss and gradients equal unweighted CE for a singleton. Configured class weights must not be reported as an effective class-balancing intervention. The original scores remain valid outcomes of that executed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draws only on completed experiments. Self-supervised and transfer learning are proposed future work. The report discloses code-assistance and artifact provenance, plus the post-run class-weight finding. No corrected-weight GPU run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references: BraTS official data https://www.med.upenn.edu/cbica/brats2020/data.html ; Menze et al. doi:10.1109/TMI.2014.2377694 ; Bakas et al. doi:10.1038/sdata.2017.117 ; He et al. https://arxiv.org/abs/1512.03385 ; Wu and He https://arxiv.org/abs/1803.08494 ; AdamW https://arxiv.org/abs/1711.05101 ; PyTorch https://docs.pytorch.org/docs/2.11/generated/torch.nn.CrossEntropyLoss.html . Experiment provenance: BTP1_GPU_Results (2).zip and executed BTP1_GPU_Step_by_Step (1).ipynb.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2daf832614e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7ffbcfad741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0f37b0b6b46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fa6702fa4b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537113f6c46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9619893b545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3D2DAD-8F2A-44F6-900C-A393319CE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D040D2-7F0F-49FF-91CD-94A5CEBEE8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91F4F5-A45F-48E1-893F-6EF3FAD66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B2D39-EE98-48C1-BA73-888B347BA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2B1103-FAC3-4469-A8E0-849C3E9D95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1ACC5F-76C9-4DB5-99FA-F29C1DDC2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821D71-F141-40FD-A320-11410C3CE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8A409C-B143-4067-860A-F3CCA1A16E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5E869-71F3-4867-9592-F8F9880EB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90CCC-AC68-468A-BCFC-3F35F2F215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b819a447d34b0c" /><Relationship Type="http://schemas.openxmlformats.org/officeDocument/2006/relationships/slideLayout" Target="/ppt/slideLayouts/slideLayout1.xml" Id="R94b4a489e4cf46b2" /><Relationship Type="http://schemas.openxmlformats.org/officeDocument/2006/relationships/slideLayout" Target="/ppt/slideLayouts/slideLayout2.xml" Id="Reb3643c436da4c6c" /><Relationship Type="http://schemas.openxmlformats.org/officeDocument/2006/relationships/slideLayout" Target="/ppt/slideLayouts/slideLayout3.xml" Id="Rfceb397adb7842ea" /><Relationship Type="http://schemas.openxmlformats.org/officeDocument/2006/relationships/slideLayout" Target="/ppt/slideLayouts/slideLayout4.xml" Id="R7393cca682eb4107" /><Relationship Type="http://schemas.openxmlformats.org/officeDocument/2006/relationships/slideLayout" Target="/ppt/slideLayouts/slideLayout5.xml" Id="Re253eb9d7d174322" /><Relationship Type="http://schemas.openxmlformats.org/officeDocument/2006/relationships/slideLayout" Target="/ppt/slideLayouts/slideLayout6.xml" Id="R72aeee4f92ce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4a489e4cf46b2"/>
    <p:sldLayoutId xmlns:r="http://schemas.openxmlformats.org/officeDocument/2006/relationships" id="2147483650" r:id="Reb3643c436da4c6c"/>
    <p:sldLayoutId xmlns:r="http://schemas.openxmlformats.org/officeDocument/2006/relationships" id="2147483651" r:id="Rfceb397adb7842ea"/>
    <p:sldLayoutId xmlns:r="http://schemas.openxmlformats.org/officeDocument/2006/relationships" id="2147483652" r:id="R7393cca682eb4107"/>
    <p:sldLayoutId xmlns:r="http://schemas.openxmlformats.org/officeDocument/2006/relationships" id="2147483653" r:id="Re253eb9d7d174322"/>
    <p:sldLayoutId xmlns:r="http://schemas.openxmlformats.org/officeDocument/2006/relationships" id="2147483654" r:id="R72aeee4f92ce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16fcb6a1049eb" /><Relationship Type="http://schemas.openxmlformats.org/officeDocument/2006/relationships/image" Target="/ppt/media/image.png" Id="R5b0373d2cfca4314" /><Relationship Type="http://schemas.openxmlformats.org/officeDocument/2006/relationships/notesSlide" Target="/ppt/notesSlides/notesSlide1.xml" Id="Rbbfd44f7dea8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f4929f42641ba" /><Relationship Type="http://schemas.openxmlformats.org/officeDocument/2006/relationships/notesSlide" Target="/ppt/notesSlides/notesSlide2.xml" Id="R8c2391ab4dc7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47ea47f7c4856" /><Relationship Type="http://schemas.openxmlformats.org/officeDocument/2006/relationships/chart" Target="/ppt/slides/charts/chart1.xml" Id="R716e3cf24bd64569" /><Relationship Type="http://schemas.openxmlformats.org/officeDocument/2006/relationships/notesSlide" Target="/ppt/notesSlides/notesSlide3.xml" Id="R1c4890b1a75846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e597269084d6e" /><Relationship Type="http://schemas.openxmlformats.org/officeDocument/2006/relationships/image" Target="/ppt/media/image2.png" Id="R96ad3539392d4a7a" /><Relationship Type="http://schemas.openxmlformats.org/officeDocument/2006/relationships/notesSlide" Target="/ppt/notesSlides/notesSlide4.xml" Id="R7ea6826280b7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74b01f3f14b8e" /><Relationship Type="http://schemas.openxmlformats.org/officeDocument/2006/relationships/notesSlide" Target="/ppt/notesSlides/notesSlide5.xml" Id="R158c9027a5a7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9513d91884952" /><Relationship Type="http://schemas.openxmlformats.org/officeDocument/2006/relationships/notesSlide" Target="/ppt/notesSlides/notesSlide6.xml" Id="R1122cc167120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cbf2bd59641a4" /><Relationship Type="http://schemas.openxmlformats.org/officeDocument/2006/relationships/notesSlide" Target="/ppt/notesSlides/notesSlide7.xml" Id="Rdaf081dfa83c44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694cc37124a5a" /><Relationship Type="http://schemas.openxmlformats.org/officeDocument/2006/relationships/chart" Target="/ppt/slides/charts/chart2.xml" Id="R02f105bee6a247c6" /><Relationship Type="http://schemas.openxmlformats.org/officeDocument/2006/relationships/notesSlide" Target="/ppt/notesSlides/notesSlide8.xml" Id="R312a70f30cbf4d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1a58e4de24b44" /><Relationship Type="http://schemas.openxmlformats.org/officeDocument/2006/relationships/notesSlide" Target="/ppt/notesSlides/notesSlide9.xml" Id="R05c84aa53ddf4d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1eae82ae14dc4" /><Relationship Type="http://schemas.openxmlformats.org/officeDocument/2006/relationships/chart" Target="/ppt/slides/charts/chart3.xml" Id="Rbfeea074a67e440d" /><Relationship Type="http://schemas.openxmlformats.org/officeDocument/2006/relationships/notesSlide" Target="/ppt/notesSlides/notesSlide10.xml" Id="R2d38433987c74c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2e94980a649e6" /><Relationship Type="http://schemas.openxmlformats.org/officeDocument/2006/relationships/chart" Target="/ppt/slides/charts/chart4.xml" Id="R81a5659527474353" /><Relationship Type="http://schemas.openxmlformats.org/officeDocument/2006/relationships/notesSlide" Target="/ppt/notesSlides/notesSlide11.xml" Id="R92c6bda5676d4f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6fb690d254108" /><Relationship Type="http://schemas.openxmlformats.org/officeDocument/2006/relationships/chart" Target="/ppt/slides/charts/chart5.xml" Id="R01dba1c6403e4344" /><Relationship Type="http://schemas.openxmlformats.org/officeDocument/2006/relationships/notesSlide" Target="/ppt/notesSlides/notesSlide12.xml" Id="Rc4fb52b2b29747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059ed2580474b" /><Relationship Type="http://schemas.openxmlformats.org/officeDocument/2006/relationships/chart" Target="/ppt/slides/charts/chart6.xml" Id="Rb54b5481cedb4d08" /><Relationship Type="http://schemas.openxmlformats.org/officeDocument/2006/relationships/notesSlide" Target="/ppt/notesSlides/notesSlide13.xml" Id="Re6a67211882949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06ff3c73e427d" /><Relationship Type="http://schemas.openxmlformats.org/officeDocument/2006/relationships/notesSlide" Target="/ppt/notesSlides/notesSlide14.xml" Id="R1e22b0505f5a4d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8ebe8500b463b" /><Relationship Type="http://schemas.openxmlformats.org/officeDocument/2006/relationships/notesSlide" Target="/ppt/notesSlides/notesSlide15.xml" Id="R2964f377cdd84a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9098b807c4ffa" /><Relationship Type="http://schemas.openxmlformats.org/officeDocument/2006/relationships/notesSlide" Target="/ppt/notesSlides/notesSlide16.xml" Id="R8fa1633fb2b141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LGG</c:v>
          </c:tx>
          <c:spPr>
            <a:solidFill xmlns:a="http://schemas.openxmlformats.org/drawingml/2006/main">
              <a:srgbClr val="00AFC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53</c:v>
                </c:pt>
                <c:pt idx="1">
                  <c:v>11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v>HGG</c:v>
          </c:tx>
          <c:spPr>
            <a:solidFill xmlns:a="http://schemas.openxmlformats.org/drawingml/2006/main">
              <a:srgbClr val="7048E8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204</c:v>
                </c:pt>
                <c:pt idx="1">
                  <c:v>45</c:v>
                </c:pt>
                <c:pt idx="2">
                  <c:v>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8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3739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Train loss</c:v>
          </c:tx>
          <c:spPr>
            <a:ln xmlns:a="http://schemas.openxmlformats.org/drawingml/2006/main" w="28575">
              <a:solidFill>
                <a:srgbClr val="00AFC5"/>
              </a:solidFill>
            </a:ln>
          </c:spPr>
          <c:marker>
            <c:symbol val="none"/>
          </c:marker>
          <c:cat>
            <c:numRef>
              <c:f>'Chart Data'!$A$2:$A$23</c:f>
              <c:numCache>
                <c:formatCode>General</c:formatCode>
                <c:ptCount val="2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</c:numCache>
            </c:numRef>
          </c:cat>
          <c:val>
            <c:numRef>
              <c:f>'Chart Data'!$B$2:$B$23</c:f>
              <c:numCache>
                <c:formatCode>General</c:formatCode>
                <c:ptCount val="22"/>
                <c:pt idx="0">
                  <c:v>0.534814735882</c:v>
                </c:pt>
                <c:pt idx="1">
                  <c:v>0.516600140164</c:v>
                </c:pt>
                <c:pt idx="2">
                  <c:v>0.512492496999</c:v>
                </c:pt>
                <c:pt idx="3">
                  <c:v>0.409404887792</c:v>
                </c:pt>
                <c:pt idx="4">
                  <c:v>0.433951827803</c:v>
                </c:pt>
                <c:pt idx="5">
                  <c:v>0.341031085787</c:v>
                </c:pt>
                <c:pt idx="6">
                  <c:v>0.280628560582</c:v>
                </c:pt>
                <c:pt idx="7">
                  <c:v>0.265110890231</c:v>
                </c:pt>
                <c:pt idx="8">
                  <c:v>0.323317351916</c:v>
                </c:pt>
                <c:pt idx="9">
                  <c:v>0.18961651945</c:v>
                </c:pt>
                <c:pt idx="10">
                  <c:v>0.203468976797</c:v>
                </c:pt>
                <c:pt idx="11">
                  <c:v>0.26704967804</c:v>
                </c:pt>
                <c:pt idx="12">
                  <c:v>0.174917331308</c:v>
                </c:pt>
                <c:pt idx="13">
                  <c:v>0.190058169198</c:v>
                </c:pt>
                <c:pt idx="14">
                  <c:v>0.16424884211</c:v>
                </c:pt>
                <c:pt idx="15">
                  <c:v>0.125972432468</c:v>
                </c:pt>
                <c:pt idx="16">
                  <c:v>0.124403402514</c:v>
                </c:pt>
                <c:pt idx="17">
                  <c:v>0.100209005777</c:v>
                </c:pt>
                <c:pt idx="18">
                  <c:v>0.108090158536</c:v>
                </c:pt>
                <c:pt idx="19">
                  <c:v>0.106830722185</c:v>
                </c:pt>
                <c:pt idx="20">
                  <c:v>0.11396922765</c:v>
                </c:pt>
                <c:pt idx="21">
                  <c:v>0.0835015179772</c:v>
                </c:pt>
              </c:numCache>
            </c:numRef>
          </c:val>
          <c:smooth val="0"/>
        </c:ser>
        <c:ser>
          <c:idx val="1"/>
          <c:order val="1"/>
          <c:tx>
            <c:v>Validation loss</c:v>
          </c:tx>
          <c:spPr>
            <a:ln xmlns:a="http://schemas.openxmlformats.org/drawingml/2006/main" w="28575">
              <a:solidFill>
                <a:srgbClr val="7048E8"/>
              </a:solidFill>
            </a:ln>
          </c:spPr>
          <c:marker>
            <c:symbol val="none"/>
          </c:marker>
          <c:cat>
            <c:numRef>
              <c:f>'Chart Data'!$C$2:$C$23</c:f>
              <c:numCache>
                <c:formatCode>General</c:formatCode>
                <c:ptCount val="2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</c:numCache>
            </c:numRef>
          </c:cat>
          <c:val>
            <c:numRef>
              <c:f>'Chart Data'!$D$2:$D$23</c:f>
              <c:numCache>
                <c:formatCode>General</c:formatCode>
                <c:ptCount val="22"/>
                <c:pt idx="0">
                  <c:v>0.495533532862</c:v>
                </c:pt>
                <c:pt idx="1">
                  <c:v>0.50130353868</c:v>
                </c:pt>
                <c:pt idx="2">
                  <c:v>0.461844311495</c:v>
                </c:pt>
                <c:pt idx="3">
                  <c:v>0.415827616517</c:v>
                </c:pt>
                <c:pt idx="4">
                  <c:v>0.564173017229</c:v>
                </c:pt>
                <c:pt idx="5">
                  <c:v>0.541170939537</c:v>
                </c:pt>
                <c:pt idx="6">
                  <c:v>0.462809979916</c:v>
                </c:pt>
                <c:pt idx="7">
                  <c:v>0.486628936886</c:v>
                </c:pt>
                <c:pt idx="8">
                  <c:v>0.304975237132</c:v>
                </c:pt>
                <c:pt idx="9">
                  <c:v>0.299055103761</c:v>
                </c:pt>
                <c:pt idx="10">
                  <c:v>0.430358613808</c:v>
                </c:pt>
                <c:pt idx="11">
                  <c:v>0.35453005792</c:v>
                </c:pt>
                <c:pt idx="12">
                  <c:v>0.436670707805</c:v>
                </c:pt>
                <c:pt idx="13">
                  <c:v>0.398128100737</c:v>
                </c:pt>
                <c:pt idx="14">
                  <c:v>0.406674727764</c:v>
                </c:pt>
                <c:pt idx="15">
                  <c:v>0.359034265666</c:v>
                </c:pt>
                <c:pt idx="16">
                  <c:v>0.477123532993</c:v>
                </c:pt>
                <c:pt idx="17">
                  <c:v>0.440140042978</c:v>
                </c:pt>
                <c:pt idx="18">
                  <c:v>0.500827895681</c:v>
                </c:pt>
                <c:pt idx="19">
                  <c:v>0.389453176895</c:v>
                </c:pt>
                <c:pt idx="20">
                  <c:v>0.406694241941</c:v>
                </c:pt>
                <c:pt idx="21">
                  <c:v>0.335340704203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37396"/>
                    </a:solidFill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37396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37396"/>
                    </a:solidFill>
                    <a:latin typeface="Arial"/>
                    <a:ea typeface="Arial"/>
                    <a:cs typeface="Arial"/>
                  </a:rPr>
                  <a:t>Cross-entropy 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37396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3739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Pooled OOF</c:v>
          </c:tx>
          <c:spPr>
            <a:solidFill xmlns:a="http://schemas.openxmlformats.org/drawingml/2006/main">
              <a:srgbClr val="00AFC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Balanced accuracy</c:v>
                </c:pt>
                <c:pt idx="2">
                  <c:v>Macro-F1</c:v>
                </c:pt>
                <c:pt idx="3">
                  <c:v>ROC-AUC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0.872628726287</c:v>
                </c:pt>
                <c:pt idx="1">
                  <c:v>0.846708280941</c:v>
                </c:pt>
                <c:pt idx="2">
                  <c:v>0.819646218321</c:v>
                </c:pt>
                <c:pt idx="3">
                  <c:v>0.881511586133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520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AFC5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Fold 0</c:v>
                </c:pt>
                <c:pt idx="1">
                  <c:v>Fold 1</c:v>
                </c:pt>
                <c:pt idx="2">
                  <c:v>Fold 2</c:v>
                </c:pt>
                <c:pt idx="3">
                  <c:v>Fold 3</c:v>
                </c:pt>
                <c:pt idx="4">
                  <c:v>Fold 4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0.841242937853</c:v>
                </c:pt>
                <c:pt idx="1">
                  <c:v>0.882485875706</c:v>
                </c:pt>
                <c:pt idx="2">
                  <c:v>0.749152542373</c:v>
                </c:pt>
                <c:pt idx="3">
                  <c:v>0.873922413793</c:v>
                </c:pt>
                <c:pt idx="4">
                  <c:v>0.881609195402</c:v>
                </c:pt>
              </c:numCache>
            </c:numRef>
          </c:val>
        </c:ser>
        <c:ser>
          <c:idx val="1"/>
          <c:order val="1"/>
          <c:tx>
            <c:v>LGG recall</c:v>
          </c:tx>
          <c:spPr>
            <a:solidFill xmlns:a="http://schemas.openxmlformats.org/drawingml/2006/main">
              <a:srgbClr val="7048E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Fold 0</c:v>
                </c:pt>
                <c:pt idx="1">
                  <c:v>Fold 1</c:v>
                </c:pt>
                <c:pt idx="2">
                  <c:v>Fold 2</c:v>
                </c:pt>
                <c:pt idx="3">
                  <c:v>Fold 3</c:v>
                </c:pt>
                <c:pt idx="4">
                  <c:v>Fold 4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0.733333333333</c:v>
                </c:pt>
                <c:pt idx="1">
                  <c:v>0.866666666667</c:v>
                </c:pt>
                <c:pt idx="2">
                  <c:v>0.6</c:v>
                </c:pt>
                <c:pt idx="3">
                  <c:v>0.9375</c:v>
                </c:pt>
                <c:pt idx="4">
                  <c:v>0.866666666667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520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3739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</c:v>
          </c:tx>
          <c:spPr>
            <a:solidFill xmlns:a="http://schemas.openxmlformats.org/drawingml/2006/main">
              <a:srgbClr val="00AFC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Balanced acc.</c:v>
                </c:pt>
                <c:pt idx="2">
                  <c:v>Macro-F1</c:v>
                </c:pt>
                <c:pt idx="3">
                  <c:v>ROC-AUC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0.839285714286</c:v>
                </c:pt>
                <c:pt idx="1">
                  <c:v>0.715909090909</c:v>
                </c:pt>
                <c:pt idx="2">
                  <c:v>0.736263736264</c:v>
                </c:pt>
                <c:pt idx="3">
                  <c:v>0.809659090909</c:v>
                </c:pt>
              </c:numCache>
            </c:numRef>
          </c:val>
        </c:ser>
        <c:ser>
          <c:idx val="1"/>
          <c:order val="1"/>
          <c:tx>
            <c:v>Whole brain</c:v>
          </c:tx>
          <c:spPr>
            <a:solidFill xmlns:a="http://schemas.openxmlformats.org/drawingml/2006/main">
              <a:srgbClr val="7048E8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Accuracy</c:v>
                </c:pt>
                <c:pt idx="1">
                  <c:v>Balanced acc.</c:v>
                </c:pt>
                <c:pt idx="2">
                  <c:v>Macro-F1</c:v>
                </c:pt>
                <c:pt idx="3">
                  <c:v>ROC-AUC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0.75</c:v>
                </c:pt>
                <c:pt idx="1">
                  <c:v>0.659090909091</c:v>
                </c:pt>
                <c:pt idx="2">
                  <c:v>0.649373881932</c:v>
                </c:pt>
                <c:pt idx="3">
                  <c:v>0.793560606061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520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3739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ROI pooled OOF</c:v>
          </c:tx>
          <c:spPr>
            <a:ln xmlns:a="http://schemas.openxmlformats.org/drawingml/2006/main" w="28575">
              <a:solidFill>
                <a:srgbClr val="00AFC5"/>
              </a:solidFill>
            </a:ln>
          </c:spPr>
          <c:marker>
            <c:symbol val="none"/>
          </c:marker>
          <c:xVal>
            <c:numRef>
              <c:f>'Chart Data'!$A$2:$A$118</c:f>
              <c:numCache>
                <c:formatCode>General</c:formatCode>
                <c:ptCount val="1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0.0131578947368</c:v>
                </c:pt>
                <c:pt idx="4">
                  <c:v>0.0131578947368</c:v>
                </c:pt>
                <c:pt idx="5">
                  <c:v>0.0131578947368</c:v>
                </c:pt>
                <c:pt idx="6">
                  <c:v>0.0131578947368</c:v>
                </c:pt>
                <c:pt idx="7">
                  <c:v>0.0131578947368</c:v>
                </c:pt>
                <c:pt idx="8">
                  <c:v>0.0263157894737</c:v>
                </c:pt>
                <c:pt idx="9">
                  <c:v>0.0263157894737</c:v>
                </c:pt>
                <c:pt idx="10">
                  <c:v>0.0263157894737</c:v>
                </c:pt>
                <c:pt idx="11">
                  <c:v>0.0263157894737</c:v>
                </c:pt>
                <c:pt idx="12">
                  <c:v>0.0394736842105</c:v>
                </c:pt>
                <c:pt idx="13">
                  <c:v>0.0526315789474</c:v>
                </c:pt>
                <c:pt idx="14">
                  <c:v>0.0526315789474</c:v>
                </c:pt>
                <c:pt idx="15">
                  <c:v>0.0526315789474</c:v>
                </c:pt>
                <c:pt idx="16">
                  <c:v>0.0526315789474</c:v>
                </c:pt>
                <c:pt idx="17">
                  <c:v>0.0526315789474</c:v>
                </c:pt>
                <c:pt idx="18">
                  <c:v>0.0526315789474</c:v>
                </c:pt>
                <c:pt idx="19">
                  <c:v>0.0526315789474</c:v>
                </c:pt>
                <c:pt idx="20">
                  <c:v>0.0526315789474</c:v>
                </c:pt>
                <c:pt idx="21">
                  <c:v>0.0526315789474</c:v>
                </c:pt>
                <c:pt idx="22">
                  <c:v>0.0526315789474</c:v>
                </c:pt>
                <c:pt idx="23">
                  <c:v>0.0657894736842</c:v>
                </c:pt>
                <c:pt idx="24">
                  <c:v>0.0657894736842</c:v>
                </c:pt>
                <c:pt idx="25">
                  <c:v>0.0657894736842</c:v>
                </c:pt>
                <c:pt idx="26">
                  <c:v>0.0657894736842</c:v>
                </c:pt>
                <c:pt idx="27">
                  <c:v>0.0657894736842</c:v>
                </c:pt>
                <c:pt idx="28">
                  <c:v>0.0657894736842</c:v>
                </c:pt>
                <c:pt idx="29">
                  <c:v>0.0657894736842</c:v>
                </c:pt>
                <c:pt idx="30">
                  <c:v>0.0657894736842</c:v>
                </c:pt>
                <c:pt idx="31">
                  <c:v>0.0657894736842</c:v>
                </c:pt>
                <c:pt idx="32">
                  <c:v>0.0657894736842</c:v>
                </c:pt>
                <c:pt idx="33">
                  <c:v>0.0657894736842</c:v>
                </c:pt>
                <c:pt idx="34">
                  <c:v>0.0657894736842</c:v>
                </c:pt>
                <c:pt idx="35">
                  <c:v>0.0657894736842</c:v>
                </c:pt>
                <c:pt idx="36">
                  <c:v>0.0657894736842</c:v>
                </c:pt>
                <c:pt idx="37">
                  <c:v>0.0657894736842</c:v>
                </c:pt>
                <c:pt idx="38">
                  <c:v>0.0789473684211</c:v>
                </c:pt>
                <c:pt idx="39">
                  <c:v>0.0921052631579</c:v>
                </c:pt>
                <c:pt idx="40">
                  <c:v>0.0921052631579</c:v>
                </c:pt>
                <c:pt idx="41">
                  <c:v>0.0921052631579</c:v>
                </c:pt>
                <c:pt idx="42">
                  <c:v>0.0921052631579</c:v>
                </c:pt>
                <c:pt idx="43">
                  <c:v>0.0921052631579</c:v>
                </c:pt>
                <c:pt idx="44">
                  <c:v>0.0921052631579</c:v>
                </c:pt>
                <c:pt idx="45">
                  <c:v>0.0921052631579</c:v>
                </c:pt>
                <c:pt idx="46">
                  <c:v>0.0921052631579</c:v>
                </c:pt>
                <c:pt idx="47">
                  <c:v>0.0921052631579</c:v>
                </c:pt>
                <c:pt idx="48">
                  <c:v>0.0921052631579</c:v>
                </c:pt>
                <c:pt idx="49">
                  <c:v>0.0921052631579</c:v>
                </c:pt>
                <c:pt idx="50">
                  <c:v>0.0921052631579</c:v>
                </c:pt>
                <c:pt idx="51">
                  <c:v>0.0921052631579</c:v>
                </c:pt>
                <c:pt idx="52">
                  <c:v>0.0921052631579</c:v>
                </c:pt>
                <c:pt idx="53">
                  <c:v>0.0921052631579</c:v>
                </c:pt>
                <c:pt idx="54">
                  <c:v>0.105263157895</c:v>
                </c:pt>
                <c:pt idx="55">
                  <c:v>0.105263157895</c:v>
                </c:pt>
                <c:pt idx="56">
                  <c:v>0.118421052632</c:v>
                </c:pt>
                <c:pt idx="57">
                  <c:v>0.118421052632</c:v>
                </c:pt>
                <c:pt idx="58">
                  <c:v>0.118421052632</c:v>
                </c:pt>
                <c:pt idx="59">
                  <c:v>0.118421052632</c:v>
                </c:pt>
                <c:pt idx="60">
                  <c:v>0.131578947368</c:v>
                </c:pt>
                <c:pt idx="61">
                  <c:v>0.131578947368</c:v>
                </c:pt>
                <c:pt idx="62">
                  <c:v>0.144736842105</c:v>
                </c:pt>
                <c:pt idx="63">
                  <c:v>0.144736842105</c:v>
                </c:pt>
                <c:pt idx="64">
                  <c:v>0.144736842105</c:v>
                </c:pt>
                <c:pt idx="65">
                  <c:v>0.144736842105</c:v>
                </c:pt>
                <c:pt idx="66">
                  <c:v>0.157894736842</c:v>
                </c:pt>
                <c:pt idx="67">
                  <c:v>0.157894736842</c:v>
                </c:pt>
                <c:pt idx="68">
                  <c:v>0.171052631579</c:v>
                </c:pt>
                <c:pt idx="69">
                  <c:v>0.171052631579</c:v>
                </c:pt>
                <c:pt idx="70">
                  <c:v>0.184210526316</c:v>
                </c:pt>
                <c:pt idx="71">
                  <c:v>0.184210526316</c:v>
                </c:pt>
                <c:pt idx="72">
                  <c:v>0.197368421053</c:v>
                </c:pt>
                <c:pt idx="73">
                  <c:v>0.197368421053</c:v>
                </c:pt>
                <c:pt idx="74">
                  <c:v>0.263157894737</c:v>
                </c:pt>
                <c:pt idx="75">
                  <c:v>0.263157894737</c:v>
                </c:pt>
                <c:pt idx="76">
                  <c:v>0.263157894737</c:v>
                </c:pt>
                <c:pt idx="77">
                  <c:v>0.276315789474</c:v>
                </c:pt>
                <c:pt idx="78">
                  <c:v>0.276315789474</c:v>
                </c:pt>
                <c:pt idx="79">
                  <c:v>0.302631578947</c:v>
                </c:pt>
                <c:pt idx="80">
                  <c:v>0.302631578947</c:v>
                </c:pt>
                <c:pt idx="81">
                  <c:v>0.368421052632</c:v>
                </c:pt>
                <c:pt idx="82">
                  <c:v>0.368421052632</c:v>
                </c:pt>
                <c:pt idx="83">
                  <c:v>0.421052631579</c:v>
                </c:pt>
                <c:pt idx="84">
                  <c:v>0.421052631579</c:v>
                </c:pt>
                <c:pt idx="85">
                  <c:v>0.434210526316</c:v>
                </c:pt>
                <c:pt idx="86">
                  <c:v>0.434210526316</c:v>
                </c:pt>
                <c:pt idx="87">
                  <c:v>0.460526315789</c:v>
                </c:pt>
                <c:pt idx="88">
                  <c:v>0.460526315789</c:v>
                </c:pt>
                <c:pt idx="89">
                  <c:v>0.473684210526</c:v>
                </c:pt>
                <c:pt idx="90">
                  <c:v>0.473684210526</c:v>
                </c:pt>
                <c:pt idx="91">
                  <c:v>0.526315789474</c:v>
                </c:pt>
                <c:pt idx="92">
                  <c:v>0.526315789474</c:v>
                </c:pt>
                <c:pt idx="93">
                  <c:v>0.539473684211</c:v>
                </c:pt>
                <c:pt idx="94">
                  <c:v>0.539473684211</c:v>
                </c:pt>
                <c:pt idx="95">
                  <c:v>0.605263157895</c:v>
                </c:pt>
                <c:pt idx="96">
                  <c:v>0.605263157895</c:v>
                </c:pt>
                <c:pt idx="97">
                  <c:v>0.618421052632</c:v>
                </c:pt>
                <c:pt idx="98">
                  <c:v>0.618421052632</c:v>
                </c:pt>
                <c:pt idx="99">
                  <c:v>0.723684210526</c:v>
                </c:pt>
                <c:pt idx="100">
                  <c:v>0.723684210526</c:v>
                </c:pt>
                <c:pt idx="101">
                  <c:v>0.789473684211</c:v>
                </c:pt>
                <c:pt idx="102">
                  <c:v>0.789473684211</c:v>
                </c:pt>
                <c:pt idx="103">
                  <c:v>0.802631578947</c:v>
                </c:pt>
                <c:pt idx="104">
                  <c:v>0.802631578947</c:v>
                </c:pt>
                <c:pt idx="105">
                  <c:v>0.828947368421</c:v>
                </c:pt>
                <c:pt idx="106">
                  <c:v>0.828947368421</c:v>
                </c:pt>
                <c:pt idx="107">
                  <c:v>0.842105263158</c:v>
                </c:pt>
                <c:pt idx="108">
                  <c:v>0.842105263158</c:v>
                </c:pt>
                <c:pt idx="109">
                  <c:v>0.868421052632</c:v>
                </c:pt>
                <c:pt idx="110">
                  <c:v>0.868421052632</c:v>
                </c:pt>
                <c:pt idx="111">
                  <c:v>0.921052631579</c:v>
                </c:pt>
                <c:pt idx="112">
                  <c:v>0.921052631579</c:v>
                </c:pt>
                <c:pt idx="113">
                  <c:v>0.973684210526</c:v>
                </c:pt>
                <c:pt idx="114">
                  <c:v>0.973684210526</c:v>
                </c:pt>
                <c:pt idx="115">
                  <c:v>1</c:v>
                </c:pt>
                <c:pt idx="116">
                  <c:v>1</c:v>
                </c:pt>
              </c:numCache>
            </c:numRef>
          </c:xVal>
          <c:yVal>
            <c:numRef>
              <c:f>'Chart Data'!$B$2:$B$118</c:f>
              <c:numCache>
                <c:formatCode>General</c:formatCode>
                <c:ptCount val="117"/>
                <c:pt idx="0">
                  <c:v>0</c:v>
                </c:pt>
                <c:pt idx="1">
                  <c:v>0.00682593856655</c:v>
                </c:pt>
                <c:pt idx="2">
                  <c:v>0.0682593856655</c:v>
                </c:pt>
                <c:pt idx="3">
                  <c:v>0.0784982935154</c:v>
                </c:pt>
                <c:pt idx="4">
                  <c:v>0.133105802048</c:v>
                </c:pt>
                <c:pt idx="5">
                  <c:v>0.153583617747</c:v>
                </c:pt>
                <c:pt idx="6">
                  <c:v>0.163822525597</c:v>
                </c:pt>
                <c:pt idx="7">
                  <c:v>0.17747440273</c:v>
                </c:pt>
                <c:pt idx="8">
                  <c:v>0.184300341297</c:v>
                </c:pt>
                <c:pt idx="9">
                  <c:v>0.194539249147</c:v>
                </c:pt>
                <c:pt idx="10">
                  <c:v>0.21843003413</c:v>
                </c:pt>
                <c:pt idx="11">
                  <c:v>0.238907849829</c:v>
                </c:pt>
                <c:pt idx="12">
                  <c:v>0.245733788396</c:v>
                </c:pt>
                <c:pt idx="13">
                  <c:v>0.279863481229</c:v>
                </c:pt>
                <c:pt idx="14">
                  <c:v>0.300341296928</c:v>
                </c:pt>
                <c:pt idx="15">
                  <c:v>0.327645051195</c:v>
                </c:pt>
                <c:pt idx="16">
                  <c:v>0.337883959044</c:v>
                </c:pt>
                <c:pt idx="17">
                  <c:v>0.358361774744</c:v>
                </c:pt>
                <c:pt idx="18">
                  <c:v>0.378839590444</c:v>
                </c:pt>
                <c:pt idx="19">
                  <c:v>0.382252559727</c:v>
                </c:pt>
                <c:pt idx="20">
                  <c:v>0.389078498294</c:v>
                </c:pt>
                <c:pt idx="21">
                  <c:v>0.40614334471</c:v>
                </c:pt>
                <c:pt idx="22">
                  <c:v>0.419795221843</c:v>
                </c:pt>
                <c:pt idx="23">
                  <c:v>0.447098976109</c:v>
                </c:pt>
                <c:pt idx="24">
                  <c:v>0.477815699659</c:v>
                </c:pt>
                <c:pt idx="25">
                  <c:v>0.484641638225</c:v>
                </c:pt>
                <c:pt idx="26">
                  <c:v>0.508532423208</c:v>
                </c:pt>
                <c:pt idx="27">
                  <c:v>0.515358361775</c:v>
                </c:pt>
                <c:pt idx="28">
                  <c:v>0.529010238908</c:v>
                </c:pt>
                <c:pt idx="29">
                  <c:v>0.546075085324</c:v>
                </c:pt>
                <c:pt idx="30">
                  <c:v>0.552901023891</c:v>
                </c:pt>
                <c:pt idx="31">
                  <c:v>0.566552901024</c:v>
                </c:pt>
                <c:pt idx="32">
                  <c:v>0.57337883959</c:v>
                </c:pt>
                <c:pt idx="33">
                  <c:v>0.576791808874</c:v>
                </c:pt>
                <c:pt idx="34">
                  <c:v>0.58361774744</c:v>
                </c:pt>
                <c:pt idx="35">
                  <c:v>0.590443686007</c:v>
                </c:pt>
                <c:pt idx="36">
                  <c:v>0.597269624573</c:v>
                </c:pt>
                <c:pt idx="37">
                  <c:v>0.60409556314</c:v>
                </c:pt>
                <c:pt idx="38">
                  <c:v>0.607508532423</c:v>
                </c:pt>
                <c:pt idx="39">
                  <c:v>0.607508532423</c:v>
                </c:pt>
                <c:pt idx="40">
                  <c:v>0.61433447099</c:v>
                </c:pt>
                <c:pt idx="41">
                  <c:v>0.641638225256</c:v>
                </c:pt>
                <c:pt idx="42">
                  <c:v>0.645051194539</c:v>
                </c:pt>
                <c:pt idx="43">
                  <c:v>0.655290102389</c:v>
                </c:pt>
                <c:pt idx="44">
                  <c:v>0.672354948805</c:v>
                </c:pt>
                <c:pt idx="45">
                  <c:v>0.675767918089</c:v>
                </c:pt>
                <c:pt idx="46">
                  <c:v>0.682593856655</c:v>
                </c:pt>
                <c:pt idx="47">
                  <c:v>0.703071672355</c:v>
                </c:pt>
                <c:pt idx="48">
                  <c:v>0.709897610922</c:v>
                </c:pt>
                <c:pt idx="49">
                  <c:v>0.720136518771</c:v>
                </c:pt>
                <c:pt idx="50">
                  <c:v>0.733788395904</c:v>
                </c:pt>
                <c:pt idx="51">
                  <c:v>0.740614334471</c:v>
                </c:pt>
                <c:pt idx="52">
                  <c:v>0.747440273038</c:v>
                </c:pt>
                <c:pt idx="53">
                  <c:v>0.750853242321</c:v>
                </c:pt>
                <c:pt idx="54">
                  <c:v>0.757679180887</c:v>
                </c:pt>
                <c:pt idx="55">
                  <c:v>0.761092150171</c:v>
                </c:pt>
                <c:pt idx="56">
                  <c:v>0.764505119454</c:v>
                </c:pt>
                <c:pt idx="57">
                  <c:v>0.77133105802</c:v>
                </c:pt>
                <c:pt idx="58">
                  <c:v>0.78156996587</c:v>
                </c:pt>
                <c:pt idx="59">
                  <c:v>0.798634812287</c:v>
                </c:pt>
                <c:pt idx="60">
                  <c:v>0.798634812287</c:v>
                </c:pt>
                <c:pt idx="61">
                  <c:v>0.80204778157</c:v>
                </c:pt>
                <c:pt idx="62">
                  <c:v>0.80204778157</c:v>
                </c:pt>
                <c:pt idx="63">
                  <c:v>0.836177474403</c:v>
                </c:pt>
                <c:pt idx="64">
                  <c:v>0.843003412969</c:v>
                </c:pt>
                <c:pt idx="65">
                  <c:v>0.846416382253</c:v>
                </c:pt>
                <c:pt idx="66">
                  <c:v>0.846416382253</c:v>
                </c:pt>
                <c:pt idx="67">
                  <c:v>0.863481228669</c:v>
                </c:pt>
                <c:pt idx="68">
                  <c:v>0.863481228669</c:v>
                </c:pt>
                <c:pt idx="69">
                  <c:v>0.873720136519</c:v>
                </c:pt>
                <c:pt idx="70">
                  <c:v>0.873720136519</c:v>
                </c:pt>
                <c:pt idx="71">
                  <c:v>0.883959044369</c:v>
                </c:pt>
                <c:pt idx="72">
                  <c:v>0.883959044369</c:v>
                </c:pt>
                <c:pt idx="73">
                  <c:v>0.890784982935</c:v>
                </c:pt>
                <c:pt idx="74">
                  <c:v>0.890784982935</c:v>
                </c:pt>
                <c:pt idx="75">
                  <c:v>0.897610921502</c:v>
                </c:pt>
                <c:pt idx="76">
                  <c:v>0.904436860068</c:v>
                </c:pt>
                <c:pt idx="77">
                  <c:v>0.904436860068</c:v>
                </c:pt>
                <c:pt idx="78">
                  <c:v>0.914675767918</c:v>
                </c:pt>
                <c:pt idx="79">
                  <c:v>0.914675767918</c:v>
                </c:pt>
                <c:pt idx="80">
                  <c:v>0.918088737201</c:v>
                </c:pt>
                <c:pt idx="81">
                  <c:v>0.918088737201</c:v>
                </c:pt>
                <c:pt idx="82">
                  <c:v>0.921501706485</c:v>
                </c:pt>
                <c:pt idx="83">
                  <c:v>0.921501706485</c:v>
                </c:pt>
                <c:pt idx="84">
                  <c:v>0.928327645051</c:v>
                </c:pt>
                <c:pt idx="85">
                  <c:v>0.928327645051</c:v>
                </c:pt>
                <c:pt idx="86">
                  <c:v>0.931740614334</c:v>
                </c:pt>
                <c:pt idx="87">
                  <c:v>0.931740614334</c:v>
                </c:pt>
                <c:pt idx="88">
                  <c:v>0.938566552901</c:v>
                </c:pt>
                <c:pt idx="89">
                  <c:v>0.938566552901</c:v>
                </c:pt>
                <c:pt idx="90">
                  <c:v>0.945392491468</c:v>
                </c:pt>
                <c:pt idx="91">
                  <c:v>0.945392491468</c:v>
                </c:pt>
                <c:pt idx="92">
                  <c:v>0.948805460751</c:v>
                </c:pt>
                <c:pt idx="93">
                  <c:v>0.948805460751</c:v>
                </c:pt>
                <c:pt idx="94">
                  <c:v>0.952218430034</c:v>
                </c:pt>
                <c:pt idx="95">
                  <c:v>0.952218430034</c:v>
                </c:pt>
                <c:pt idx="96">
                  <c:v>0.959044368601</c:v>
                </c:pt>
                <c:pt idx="97">
                  <c:v>0.959044368601</c:v>
                </c:pt>
                <c:pt idx="98">
                  <c:v>0.962457337884</c:v>
                </c:pt>
                <c:pt idx="99">
                  <c:v>0.962457337884</c:v>
                </c:pt>
                <c:pt idx="100">
                  <c:v>0.969283276451</c:v>
                </c:pt>
                <c:pt idx="101">
                  <c:v>0.969283276451</c:v>
                </c:pt>
                <c:pt idx="102">
                  <c:v>0.972696245734</c:v>
                </c:pt>
                <c:pt idx="103">
                  <c:v>0.972696245734</c:v>
                </c:pt>
                <c:pt idx="104">
                  <c:v>0.9795221843</c:v>
                </c:pt>
                <c:pt idx="105">
                  <c:v>0.9795221843</c:v>
                </c:pt>
                <c:pt idx="106">
                  <c:v>0.982935153584</c:v>
                </c:pt>
                <c:pt idx="107">
                  <c:v>0.982935153584</c:v>
                </c:pt>
                <c:pt idx="108">
                  <c:v>0.986348122867</c:v>
                </c:pt>
                <c:pt idx="109">
                  <c:v>0.986348122867</c:v>
                </c:pt>
                <c:pt idx="110">
                  <c:v>0.98976109215</c:v>
                </c:pt>
                <c:pt idx="111">
                  <c:v>0.98976109215</c:v>
                </c:pt>
                <c:pt idx="112">
                  <c:v>0.993174061433</c:v>
                </c:pt>
                <c:pt idx="113">
                  <c:v>0.993174061433</c:v>
                </c:pt>
                <c:pt idx="114">
                  <c:v>0.996587030717</c:v>
                </c:pt>
                <c:pt idx="115">
                  <c:v>0.996587030717</c:v>
                </c:pt>
                <c:pt idx="11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v>Reference diagonal</c:v>
          </c:tx>
          <c:spPr>
            <a:ln xmlns:a="http://schemas.openxmlformats.org/drawingml/2006/main" w="9525">
              <a:solidFill>
                <a:srgbClr val="A9B2C8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37396"/>
                    </a:solidFill>
                    <a:latin typeface="Arial"/>
                    <a:ea typeface="Arial"/>
                    <a:cs typeface="Arial"/>
                  </a:rPr>
                  <a:t>True-positive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37396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AF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37396"/>
                    </a:solidFill>
                    <a:latin typeface="Arial"/>
                    <a:ea typeface="Arial"/>
                    <a:cs typeface="Arial"/>
                  </a:rPr>
                  <a:t>False-positive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37396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1437"/>
            </a:gs>
            <a:gs pos="100000">
              <a:srgbClr val="2118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A411D-8E4C-4EF8-8EF1-76FF0286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66D3D-9788-4BFB-A18D-4849939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" cy="59055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2A22E-6DA6-4C91-9445-10D479DE21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373d2cfca4314"/>
          <a:stretch xmlns:a="http://schemas.openxmlformats.org/drawingml/2006/main"/>
        </p:blipFill>
        <p:spPr>
          <a:xfrm xmlns:a="http://schemas.openxmlformats.org/drawingml/2006/main">
            <a:off x="666750" y="440741"/>
            <a:ext cx="419100" cy="47106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E657F-529D-4CA5-AE4E-89DD90E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Indian Institute of Technology Kharagpur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6E715-9B01-45E8-8CE8-E2837C19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524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6E9"/>
                </a:solidFill>
                <a:latin typeface="Arial"/>
                <a:ea typeface="Arial"/>
                <a:cs typeface="Arial"/>
              </a:rPr>
              <a:t>B.Tech Project I   Department of Chemical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42D03-2ECF-4056-B41F-42DDEC79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2D6E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D6E4"/>
                </a:solidFill>
                <a:latin typeface="Arial"/>
                <a:ea typeface="Arial"/>
                <a:cs typeface="Arial"/>
              </a:rPr>
              <a:t>MULTIMODAL VOLUMETRIC MRI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CC63B-BD1C-459B-96FF-AC0C91D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 Level Glioma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 Classification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Multimodal 3D MRI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C54EB-33DB-482C-AE4C-9CA0F252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EE"/>
                </a:solidFill>
                <a:latin typeface="Arial"/>
                <a:ea typeface="Arial"/>
                <a:cs typeface="Arial"/>
              </a:rPr>
              <a:t>A compact 3D ResNet baseline on BraTS 2020</a:t>
            </a:r>
          </a:p>
          <a:p xmlns:a="http://schemas.openxmlformats.org/drawingml/2006/main">
            <a:pPr algn="l">
              <a:defRPr sz="1650" b="0">
                <a:solidFill>
                  <a:srgbClr val="C6D0E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0EE"/>
                </a:solidFill>
                <a:latin typeface="Arial"/>
                <a:ea typeface="Arial"/>
                <a:cs typeface="Arial"/>
              </a:rPr>
              <a:t>369 patients, five-fold evaluation and a matched cropping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1C6A5-F303-4C86-BE8B-5F9F535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4765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E3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B99C2-69A3-48FE-A926-D7DA62D7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8E8"/>
                </a:solidFill>
                <a:latin typeface="Arial"/>
                <a:ea typeface="Arial"/>
                <a:cs typeface="Arial"/>
              </a:rPr>
              <a:t>4 MRI modalities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08C9B-E28B-4BC9-B3B7-319FFD2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FLAIR, T1, T1ce and T2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BCFDB-BB1A-4AB5-95BF-20CF24E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24765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3626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B0B9B-1FE2-41BB-991F-0DEA591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AB9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AB9FF"/>
                </a:solidFill>
                <a:latin typeface="Arial"/>
                <a:ea typeface="Arial"/>
                <a:cs typeface="Arial"/>
              </a:rPr>
              <a:t>96 x 96 x 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CFEC2-FB73-4367-9751-075B730D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3D tensor per 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48184-7506-45AB-ABC7-916ADFE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4765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253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E8BAF-6212-4992-BC34-5EA63A5F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9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F2D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6F2DC"/>
                </a:solidFill>
                <a:latin typeface="Arial"/>
                <a:ea typeface="Arial"/>
                <a:cs typeface="Arial"/>
              </a:rPr>
              <a:t>LGG or HGG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92A6D-EF55-46CF-AC31-1D3985F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7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 dataset grade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228EA-4A1A-4C5D-9797-AC3307C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A4D9"/>
                </a:solidFill>
                <a:latin typeface="Arial"/>
                <a:ea typeface="Arial"/>
                <a:cs typeface="Arial"/>
              </a:rPr>
              <a:t>PRESENTED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7AF6B-DD0E-4B87-99B1-0947E23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Ayush Goel   23CH10092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19601-4E12-4780-8CAB-4335680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292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EA4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A4D9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50A86-0DE1-417A-BEE7-196A697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245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Prof. Nikita Saxena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FA9AB-D2BD-4BD1-917C-BCE5A6D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6E9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75072-0EA7-47AD-AF95-C9EBF46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B8C6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6E9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96655390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1437"/>
            </a:gs>
            <a:gs pos="100000">
              <a:srgbClr val="2118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52B2F9-F131-47F5-8C1E-BF141335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3DEA7-7812-46A6-8333-742CDBE3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2242D-F260-4DA1-960E-4EF459E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0D7E5"/>
                </a:solidFill>
                <a:latin typeface="Arial"/>
                <a:ea typeface="Arial"/>
                <a:cs typeface="Arial"/>
              </a:rPr>
              <a:t>02  MAIN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B14A2-E267-4177-B799-9EBF553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complete 3D baseline with 84.67% pooled balanced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D0F83-9290-483B-91CA-89D12408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481DE-3209-4734-A746-CAD31A8A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F8716-01F7-4805-AB28-45E277E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5717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18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14096-EF75-4914-95DF-7E367F8B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55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2C29B-8EDF-4102-A4B0-FD412D7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87.26%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E295C-3423-4239-B368-D725E93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Pooled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11731-77F8-4F95-915D-C49230F8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7E9"/>
                </a:solidFill>
                <a:latin typeface="Arial"/>
                <a:ea typeface="Arial"/>
                <a:cs typeface="Arial"/>
              </a:rPr>
              <a:t>322 of 369 correct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E5C1-A5F5-4661-AA71-77C566E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5717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18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D3E13-6532-43FC-B6E1-EBC425BF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24050"/>
            <a:ext cx="255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C0479-1569-4460-8508-C9F2AA33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A898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A898FF"/>
                </a:solidFill>
                <a:latin typeface="Arial"/>
                <a:ea typeface="Arial"/>
                <a:cs typeface="Arial"/>
              </a:rPr>
              <a:t>84.67%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4FE23-AF8F-453B-B800-CA3F834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76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C69C2-5950-4E34-A666-1F8F38C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7E9"/>
                </a:solidFill>
                <a:latin typeface="Arial"/>
                <a:ea typeface="Arial"/>
                <a:cs typeface="Arial"/>
              </a:rPr>
              <a:t>LGG and HGG weighted equally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E79B9-6E81-46B4-8C28-706E1678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5717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18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65677-9482-4A37-941A-BABA995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255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A5292-64D2-4AAB-B6D3-24A20745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4BA5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4BA50"/>
                </a:solidFill>
                <a:latin typeface="Arial"/>
                <a:ea typeface="Arial"/>
                <a:cs typeface="Arial"/>
              </a:rPr>
              <a:t>0.882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BFEC5-490C-4F6D-AA26-52BE8BA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76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Pooled ROC-AUC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C856B-983C-41DA-8FC7-5E82460D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7E9"/>
                </a:solidFill>
                <a:latin typeface="Arial"/>
                <a:ea typeface="Arial"/>
                <a:cs typeface="Arial"/>
              </a:rPr>
              <a:t>Five held-out folds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A285B-42F5-4D9C-BD79-4037A59C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7241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18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8CB4D-2299-424F-9339-0274086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24050"/>
            <a:ext cx="2705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7DCE2-48C7-4262-8D6E-735FA6C6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64D9B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4D9BF"/>
                </a:solidFill>
                <a:latin typeface="Arial"/>
                <a:ea typeface="Arial"/>
                <a:cs typeface="Arial"/>
              </a:rPr>
              <a:t>81.96%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C72C9-F82F-4604-8CE1-66FDE727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C795B-25D5-434F-98AA-3074945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AC7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7E9"/>
                </a:solidFill>
                <a:latin typeface="Arial"/>
                <a:ea typeface="Arial"/>
                <a:cs typeface="Arial"/>
              </a:rPr>
              <a:t>Equal class contribution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AAC02-3C69-4C14-B328-1A917E2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314950" cy="1819275"/>
          </a:xfrm>
          <a:prstGeom xmlns:a="http://schemas.openxmlformats.org/drawingml/2006/main" prst="roundRect">
            <a:avLst>
              <a:gd name="adj" fmla="val 52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39CB6-5420-41A0-BB95-8B85EE7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E4CCD-31C6-4A3D-93CA-0BE2146B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Every patient is tested once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B37EB-3A26-4F18-A1C7-087E005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Five separate models. Each rotation uses disjoint training, validation and test patients.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62172-53FC-4B21-BB4B-2A1DCC99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29025"/>
            <a:ext cx="5410200" cy="1819275"/>
          </a:xfrm>
          <a:prstGeom xmlns:a="http://schemas.openxmlformats.org/drawingml/2006/main" prst="roundRect">
            <a:avLst>
              <a:gd name="adj" fmla="val 52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F21FCF-3576-4A8F-9FA8-79B73FF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A5B69"/>
                </a:solidFill>
                <a:latin typeface="Arial"/>
                <a:ea typeface="Arial"/>
                <a:cs typeface="Arial"/>
              </a:rPr>
              <a:t>METHOD LIMIT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6D421-63B5-4A3D-A830-B6B946C7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Class weighting cancelled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AF3A35-7E8D-4ED7-9271-345D484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Mean-reduced loss at batch size one removes the configured class weight. Scores describe the executed baseline.</a:t>
            </a:r>
          </a:p>
        </p:txBody>
      </p:sp>
    </p:spTree>
    <p:extLst>
      <p:ext uri="{BB962C8B-B14F-4D97-AF65-F5344CB8AC3E}">
        <p14:creationId xmlns:p14="http://schemas.microsoft.com/office/powerpoint/2010/main" val="1101617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5335D-6354-4B0C-B14F-9EF722C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5082F-2AF1-4F94-8D56-E6C4019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1937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F51F6-C2B2-4875-B645-63D454AB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88103-62D9-4811-A554-F5E1CA8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369 patients with four aligned MRI modalities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A49DA-92FA-4083-89BD-D9CD0DE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D904A-1FE9-4455-96C2-397B317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996B8-E781-407E-9E73-A3189A6D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6477000" cy="3724275"/>
          </a:xfrm>
          <a:prstGeom xmlns:a="http://schemas.openxmlformats.org/drawingml/2006/main" prst="roundRect">
            <a:avLst>
              <a:gd name="adj" fmla="val 2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569A-5059-4110-8428-BA87EE6C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598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PATIENT COUNTS IN THE FIXED SPLIT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A81984E7-11DE-4754-95F4-9C8961849ADE}"/>
              </a:ext>
            </a:extLst>
          </p:cNvPr>
          <p:cNvGraphicFramePr/>
          <p:nvPr/>
        </p:nvGraphicFramePr>
        <p:xfrm>
          <a:off xmlns:a="http://schemas.openxmlformats.org/drawingml/2006/main" x="838200" y="2362200"/>
          <a:ext xmlns:a="http://schemas.openxmlformats.org/drawingml/2006/main" cx="59817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6e3cf24bd6456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2F9D5-5A2E-41F2-8033-627D545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81175"/>
            <a:ext cx="41719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68F97-D9C0-4426-A83F-EC114F52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781175"/>
            <a:ext cx="415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C2032-F6B1-44E9-BFBC-A1EECEE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33575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293 HGG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B7E51-2AC8-479B-A3EC-9929AAEA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79.40% of the cohort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34392-2C28-4000-9DEE-B61EAC8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28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76 LGG patients form the minority class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E7C11-2621-4621-B35A-DCED923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43275"/>
            <a:ext cx="4171950" cy="2162175"/>
          </a:xfrm>
          <a:prstGeom xmlns:a="http://schemas.openxmlformats.org/drawingml/2006/main" prst="roundRect">
            <a:avLst>
              <a:gd name="adj" fmla="val 4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3FE10-48FD-4BD0-B5D1-C1A73804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33775"/>
            <a:ext cx="3743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Native 3D NIfTI volumes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8889B-1AAD-4A7D-BCDA-2260108A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29075"/>
            <a:ext cx="37433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Four MRI volumes and one tumour mask per patient.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1,845 original files, approximately 30.83 GiB uncompressed.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3F335-F53B-4B60-A414-509DE32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043"/>
                </a:solidFill>
                <a:latin typeface="Arial"/>
                <a:ea typeface="Arial"/>
                <a:cs typeface="Arial"/>
              </a:rPr>
              <a:t>Label mapping: LGG = 0 and HGG = 1. The target is legacy glioma grade, not four tumour types.</a:t>
            </a:r>
          </a:p>
        </p:txBody>
      </p:sp>
    </p:spTree>
    <p:extLst>
      <p:ext uri="{BB962C8B-B14F-4D97-AF65-F5344CB8AC3E}">
        <p14:creationId xmlns:p14="http://schemas.microsoft.com/office/powerpoint/2010/main" val="1876938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048C8-E1A9-4AFC-8520-94DF711A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23EFD-F29F-466B-B035-C502BB3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B95D8-2BB1-454F-8BB6-918CF147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04  VOLUMETRIC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82901-0403-4AC9-9D1A-AA775213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Real MRI channels preserve patient and spatial correspondence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B2A86-3962-4642-94FD-881C673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3554D-1074-4224-A9EC-90BDB2F8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FDDC2-6F6E-49C4-A868-9B94550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5375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D7FA9-D598-4F19-A28B-A717A1E3A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d3539392d4a7a"/>
          <a:stretch xmlns:a="http://schemas.openxmlformats.org/drawingml/2006/main"/>
        </p:blipFill>
        <p:spPr>
          <a:xfrm xmlns:a="http://schemas.openxmlformats.org/drawingml/2006/main">
            <a:off x="762000" y="2119193"/>
            <a:ext cx="10648950" cy="23148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917EA-5A33-4380-A2CC-65BCDDF1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Four 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4999C-A12A-4D1D-BE79-04F58B4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FLAIR, T1, post-contrast T1 and T2 share the same geometry.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D3CDC-5491-438E-A84F-3FA5B3D3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114925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One patient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A89F4-5AE3-4CCA-BE77-E55C90F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245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The panel shows a slice through a real 3D volume, not independent images stacked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5E2DC-B4DF-47C4-A8FC-335E1A2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14925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A supplied 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1A612-F484-490D-8ACD-DC9FC56C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The overlay defines the tumour crop. It is not a fifth image channel.</a:t>
            </a:r>
          </a:p>
        </p:txBody>
      </p:sp>
    </p:spTree>
    <p:extLst>
      <p:ext uri="{BB962C8B-B14F-4D97-AF65-F5344CB8AC3E}">
        <p14:creationId xmlns:p14="http://schemas.microsoft.com/office/powerpoint/2010/main" val="1317905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0D647-E162-4774-97B9-5AF04C2A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2085-4E25-43D3-9AC3-9A689878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5762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CAD3C-1E2E-4874-A070-AA678439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05  DATA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E5E46-D77E-487F-A887-EA65928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Geometry and patient identity are checked before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1F6EE-BED0-47E5-BDFA-32EF0511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F5A97-E219-4CEC-A7B3-12577EA4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49BD-71A4-4B47-94E1-B50432489DC8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7381875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10125"/>
              </a:tblGrid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check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Saved evidence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Unique identifiers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369 records and 369 unique patient IDs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Modality and mask geometry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369 / 369 audit rows 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Mask values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Only 0, 1, 2 and 4 accepted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Patient separation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Disjoint train, validation and test in each run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73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Cached labels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Loader rejects a manifest / cache mismatch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C140D-C8F3-4579-8410-2CED4A7D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57375"/>
            <a:ext cx="3305175" cy="3438525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101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81554-0169-44B3-863D-2B664FC3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5D8E8"/>
                </a:solidFill>
                <a:latin typeface="Arial"/>
                <a:ea typeface="Arial"/>
                <a:cs typeface="Arial"/>
              </a:rPr>
              <a:t>369 / 369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5BE28-E0BB-4198-8982-A5F83EA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Geometry checks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8F519-33EF-4E43-AE53-3E0811E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Shape, affine and spacing agreement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Canonical RAS orientation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Per-patient normalization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C91E9-4871-4B49-9E50-5466870E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Patient-ID separation does not prove scanner independence or eliminate all cohort bias.</a:t>
            </a:r>
          </a:p>
        </p:txBody>
      </p:sp>
    </p:spTree>
    <p:extLst>
      <p:ext uri="{BB962C8B-B14F-4D97-AF65-F5344CB8AC3E}">
        <p14:creationId xmlns:p14="http://schemas.microsoft.com/office/powerpoint/2010/main" val="5493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A49E7-BEDC-4276-B006-321FBAC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9D13-6E9D-40F7-8EDA-E1AC193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10DAB-9F5E-486A-B25C-608BD05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06 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70D08-5DF8-4268-AA20-942119D7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Tumour ROI and whole-brain inputs use the same patient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0A389-7EA1-4008-B701-F02EDD3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E1C0-78C5-4F83-8011-2510652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717A-B09D-455E-8AE9-BEE2C13F51AB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53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63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  Geometry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Load NIfTI, align orientation and verify correspondence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 Normalize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Z-score each modality over its own non-zero voxels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  Crop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ROI: tumour mask + 16-voxel context; brain: MRI foreground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4  Resize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Four channels to 96 x 96 x 96 with trilinear interpolation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5  Cache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Store image, label, geometry, crop and source metadata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461CB-BB8B-4A62-9B79-C07F4E1A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33400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1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9AF01-382D-42BB-95D4-FE9EDA1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only: mild flip, intensity scaling and 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75B87-CF2A-4B7C-B738-30B9436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37210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55FD6-95BB-40A1-9111-4574A66B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91175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ROI inference requires a segmentation mask</a:t>
            </a:r>
          </a:p>
        </p:txBody>
      </p:sp>
    </p:spTree>
    <p:extLst>
      <p:ext uri="{BB962C8B-B14F-4D97-AF65-F5344CB8AC3E}">
        <p14:creationId xmlns:p14="http://schemas.microsoft.com/office/powerpoint/2010/main" val="258037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21718-E0AC-415C-8E3C-C39C9B2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1ED9-ED68-405F-BB97-FF589B8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12FDB-AD22-4E7F-84C7-652A5DE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07 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4535C-A8EE-4174-B3DF-4E192E6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Compact GroupNorm 3D ResNet trained from scratch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086C0-E691-4710-9C70-A35A0A1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3F045-3E5D-42FB-B0FD-1487F4B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C3CFC-21AB-4E41-8346-3029A5334068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8334375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4429125"/>
                <a:gridCol w="2714625"/>
              </a:tblGrid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tensor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FLAIR, T1, T1ce, T2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4 x 96 x 96 x 96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Stem + pool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5-cubed conv, GN, ReLU and max pool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16 x 24 x 24 x 24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Stage 1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residual blocks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16 x 24 x 24 x 24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Stage 2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blocks, downsample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32 x 12 x 12 x 12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Stage 3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blocks, downsample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64 x 6 x 6 x 6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Stage 4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blocks, downsample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128 x 3 x 3 x 3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464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Global pooling, dropout 0.30 and linear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 logits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0B76C-0BCE-4CD5-A0DF-D3BA907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38325"/>
            <a:ext cx="2352675" cy="3714750"/>
          </a:xfrm>
          <a:prstGeom xmlns:a="http://schemas.openxmlformats.org/drawingml/2006/main" prst="roundRect">
            <a:avLst>
              <a:gd name="adj" fmla="val 4049"/>
            </a:avLst>
          </a:prstGeom>
          <a:solidFill xmlns:a="http://schemas.openxmlformats.org/drawingml/2006/main">
            <a:srgbClr val="101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51586-ECCB-4594-8ACF-7974E50D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197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5D8E8"/>
                </a:solidFill>
                <a:latin typeface="Arial"/>
                <a:ea typeface="Arial"/>
                <a:cs typeface="Arial"/>
              </a:rPr>
              <a:t>2.08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3A1BD-8CFC-49B2-BAA8-F726874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90825"/>
            <a:ext cx="1971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B27E7-06B2-494B-975C-3B2F797A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90900"/>
            <a:ext cx="19716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3D residual blocks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GroupNorm for a physical batch of 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No pretrained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931CB-372D-4D77-978E-0CA6D9E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A 1 x 1 x 1 projection shortcut handles channel or resolution changes.</a:t>
            </a:r>
          </a:p>
        </p:txBody>
      </p:sp>
    </p:spTree>
    <p:extLst>
      <p:ext uri="{BB962C8B-B14F-4D97-AF65-F5344CB8AC3E}">
        <p14:creationId xmlns:p14="http://schemas.microsoft.com/office/powerpoint/2010/main" val="647760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EC9CC-047C-4475-98A3-5C39686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E817F-CE29-43FE-8207-5D7FE968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4472D-BCAA-4930-9E79-9960AC0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08 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3627-380E-4FFE-8405-8304243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Validation selects the checkpoint before test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5CC23-2F95-433F-B439-03D5D6A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7EF8A-F042-4E37-B161-455C133A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68D35-E810-4DC1-B1A9-38D8EC2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477000" cy="354330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ED8EE-E0D0-4D3A-BFAA-94ED558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FIXED ROI TRAINING HISTORY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8820912D-4E0D-421D-B464-1853037B820B}"/>
              </a:ext>
            </a:extLst>
          </p:cNvPr>
          <p:cNvGraphicFramePr/>
          <p:nvPr/>
        </p:nvGraphicFramePr>
        <p:xfrm>
          <a:off xmlns:a="http://schemas.openxmlformats.org/drawingml/2006/main" x="790575" y="2352675"/>
          <a:ext xmlns:a="http://schemas.openxmlformats.org/drawingml/2006/main" cx="60960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105bee6a247c6"/>
          </a:graphicData>
        </a:graphic>
      </p:graphicFrame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2C9EF-5F8F-4B79-BDC5-DBF306269F9C}"/>
              </a:ext>
            </a:extLst>
          </p:cNvPr>
          <p:cNvGraphicFramePr/>
          <p:nvPr/>
        </p:nvGraphicFramePr>
        <p:xfrm>
          <a:off xmlns:a="http://schemas.openxmlformats.org/drawingml/2006/main" x="7391400" y="1838325"/>
          <a:ext xmlns:a="http://schemas.openxmlformats.org/drawingml/2006/main" cx="41719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1717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Optimizer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AdamW, lr 0.0002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Batch / accumulation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 / 4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Budget / patience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60 / 12 epochs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Selected / stopped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Epoch 10 / 22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GPU training time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9 min 42 sec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7B6C-9A1E-463C-A643-015BD63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81B41-5379-45A4-A23F-C6771470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1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D4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4B00"/>
                </a:solidFill>
                <a:latin typeface="Arial"/>
                <a:ea typeface="Arial"/>
                <a:cs typeface="Arial"/>
              </a:rPr>
              <a:t>Configured class weights cancel at batch size one. These runs use effectively unweighted cross-entropy.</a:t>
            </a:r>
          </a:p>
        </p:txBody>
      </p:sp>
    </p:spTree>
    <p:extLst>
      <p:ext uri="{BB962C8B-B14F-4D97-AF65-F5344CB8AC3E}">
        <p14:creationId xmlns:p14="http://schemas.microsoft.com/office/powerpoint/2010/main" val="677267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5C87F-FDB5-4123-8D85-22121CB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65722-4E6A-431B-A851-47400B3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DBB83-F73B-4E36-8211-881A22B5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09 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B72AD-B3E7-45B5-A42F-7C0BAD6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Five rotations produce one held-out prediction per patient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B0C44-5A4A-403E-8AB9-6190FCCF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0DC5F-78E3-489E-A4E6-91C64C5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28DF-51B8-4532-BB97-8C11897EF35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7496175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1343025"/>
                <a:gridCol w="1343025"/>
                <a:gridCol w="1343025"/>
                <a:gridCol w="1352550"/>
                <a:gridCol w="1352550"/>
              </a:tblGrid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 0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 1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 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 3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 4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7048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00AF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7048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00AF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7048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00AF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7048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00AFC5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00AF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7048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DE495-3153-4ADC-911E-45A6D28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181350" cy="3057525"/>
          </a:xfrm>
          <a:prstGeom xmlns:a="http://schemas.openxmlformats.org/drawingml/2006/main" prst="roundRect">
            <a:avLst>
              <a:gd name="adj" fmla="val 3115"/>
            </a:avLst>
          </a:prstGeom>
          <a:solidFill xmlns:a="http://schemas.openxmlformats.org/drawingml/2006/main">
            <a:srgbClr val="101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E358D-E627-4170-ACE2-25D8CA1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76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5D8E8"/>
                </a:solidFill>
                <a:latin typeface="Arial"/>
                <a:ea typeface="Arial"/>
                <a:cs typeface="Arial"/>
              </a:rPr>
              <a:t>369 patients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AFCEB-856E-4F67-92A2-0F091124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74 + 74 + 74 + 74 + 73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0B298-98A7-42E8-8D5E-3569839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A new model in each rotation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Separate validation for checkpoint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F0C8B-2343-4FCE-A653-5189DDB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Fixed comparison: 257 train / 56 validation / 56 test, identical for ROI and whole brain.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31A85-6C76-4E38-8633-8B8203D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Fold standard deviation describes split variation. It is not a confidence interval or multiple-seed uncertainty.</a:t>
            </a:r>
          </a:p>
        </p:txBody>
      </p:sp>
    </p:spTree>
    <p:extLst>
      <p:ext uri="{BB962C8B-B14F-4D97-AF65-F5344CB8AC3E}">
        <p14:creationId xmlns:p14="http://schemas.microsoft.com/office/powerpoint/2010/main" val="274542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50996-8CC1-4BA2-BD96-44BEAB03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F253C-EE56-4E96-8D83-ACB43B8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541C6-1F66-4697-B4C3-1CAEFF42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10  PRIMARY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DBF5A-95F3-4AAC-967D-5788119D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ROI cross-validation reaches 84.67% pooled balanced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263A9-3654-4348-BA84-45B9700E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25AB9-44A2-4EF1-8835-F05CEEA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CEF37-120D-45A1-A30A-25F2252B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096125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1B38C-F3D2-44A9-B37C-DC3F70D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19300"/>
            <a:ext cx="661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POOLED OUT-OF-FOLD METRICS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F816B1C-433A-4BC4-9CC0-0D8E2B047E35}"/>
              </a:ext>
            </a:extLst>
          </p:cNvPr>
          <p:cNvGraphicFramePr/>
          <p:nvPr/>
        </p:nvGraphicFramePr>
        <p:xfrm>
          <a:off xmlns:a="http://schemas.openxmlformats.org/drawingml/2006/main" x="819150" y="2419350"/>
          <a:ext xmlns:a="http://schemas.openxmlformats.org/drawingml/2006/main" cx="664845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eea074a67e440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E8ACB-39B8-421A-959E-858E331A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38325"/>
            <a:ext cx="3552825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40610-952E-41E9-BE2E-0A522632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533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18585-5138-41BA-8B3C-1B08117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90725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61 / 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4B19B-C614-46FB-8416-1302EED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90800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LGG correct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A59F3-5910-4D30-B1C8-841FFBC7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860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80.26% pooled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A6D4B-DEDB-43AE-B70C-71D8BC15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00425"/>
            <a:ext cx="3552825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A003D-F151-4E3C-8562-8B250F04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3533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A3C37-E655-42CB-A16E-8139738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52825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261 / 293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F1CF7-262B-4EE5-9FE8-A03BB75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52900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HGG 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60F80-07E8-401F-9E1C-8E18211A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481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89.08% pooled 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98A0F-A755-49EE-9C77-2BD7F8E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Always predicting HGG gives 79.40% accuracy but only 50% balanced accuracy on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0351234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16BEB-C301-4A9E-B716-847232B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F33BE-9788-46E5-92D8-8AAA80A4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7237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E629-5C82-4903-964D-E00BC18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11  FOLD VARIATION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A9362-CA3D-4F4A-A204-6EAF39D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Performance varies across test folds, especially for LGG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6AF37-8D5B-4EFE-A39E-8A3EBF28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B4C8-6E64-44AE-9487-764B2666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25BD-F481-417E-9471-C7FB0477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477125" cy="3724275"/>
          </a:xfrm>
          <a:prstGeom xmlns:a="http://schemas.openxmlformats.org/drawingml/2006/main" prst="roundRect">
            <a:avLst>
              <a:gd name="adj" fmla="val 2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D95F303-EC68-4B96-B215-A1BD163E9FA9}"/>
              </a:ext>
            </a:extLst>
          </p:cNvPr>
          <p:cNvGraphicFramePr/>
          <p:nvPr/>
        </p:nvGraphicFramePr>
        <p:xfrm>
          <a:off xmlns:a="http://schemas.openxmlformats.org/drawingml/2006/main" x="819150" y="2047875"/>
          <a:ext xmlns:a="http://schemas.openxmlformats.org/drawingml/2006/main" cx="705802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a565952747435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6869-9C27-4E4F-BF16-D74A8556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3181350" cy="3724275"/>
          </a:xfrm>
          <a:prstGeom xmlns:a="http://schemas.openxmlformats.org/drawingml/2006/main" prst="roundRect">
            <a:avLst>
              <a:gd name="adj" fmla="val 2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05AF9-C575-4061-BFE6-D19091E3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478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84.57%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20653-1288-438C-9DC7-5F98FB7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717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Mean fold balanced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FABB-B50C-451E-B6CE-6B56CBC2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2425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SD 5.65 percentage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1E4FF-D7D4-4265-97F4-8088455F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86250"/>
            <a:ext cx="2762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LGG recall ranges from 60.0% to 93.75%.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One seed, five patient partitions.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C20D4-2B7C-4914-B416-136A433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The fold SD is descriptive. Shared training patients make folds dependent.</a:t>
            </a:r>
          </a:p>
        </p:txBody>
      </p:sp>
    </p:spTree>
    <p:extLst>
      <p:ext uri="{BB962C8B-B14F-4D97-AF65-F5344CB8AC3E}">
        <p14:creationId xmlns:p14="http://schemas.microsoft.com/office/powerpoint/2010/main" val="10634470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160CF-2D43-4DD0-A774-7F745F3F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902E8-2589-47FE-ADAF-904F858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F359B-28C8-4318-B511-F4A5EA7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12  MATCHED INPUT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0AD95-CB9E-457C-8542-4DD872A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ROI performs better than whole brain on the fixed split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82552-1282-458F-AC5C-D377B443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FCDD7-93E6-4E14-89C9-FAF0F59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D2301-8CBB-4CB6-BCD2-CF939CFE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191375" cy="3724275"/>
          </a:xfrm>
          <a:prstGeom xmlns:a="http://schemas.openxmlformats.org/drawingml/2006/main" prst="roundRect">
            <a:avLst>
              <a:gd name="adj" fmla="val 2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9274DE7-5800-484B-ABBD-DF43F52DE9C2}"/>
              </a:ext>
            </a:extLst>
          </p:cNvPr>
          <p:cNvGraphicFramePr/>
          <p:nvPr/>
        </p:nvGraphicFramePr>
        <p:xfrm>
          <a:off xmlns:a="http://schemas.openxmlformats.org/drawingml/2006/main" x="819150" y="2066925"/>
          <a:ext xmlns:a="http://schemas.openxmlformats.org/drawingml/2006/main" cx="677227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dba1c6403e434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10225-91B1-4B4B-B5C4-34358000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28800"/>
            <a:ext cx="3476625" cy="372427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01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65742-123F-4E0A-A6DC-4DAFCF1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5740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5D8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5D8E8"/>
                </a:solidFill>
                <a:latin typeface="Arial"/>
                <a:ea typeface="Arial"/>
                <a:cs typeface="Arial"/>
              </a:rPr>
              <a:t>+5.68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6D992-2F77-4C9C-A284-7EAE1D6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BC0E2-BFB2-444D-9CD9-56924A67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57575"/>
            <a:ext cx="304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Same 56 test patients</a:t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Same training settings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HGG recall: 93.18% vs 81.82%</a:t>
            </a:r>
          </a:p>
          <a:p xmlns:a="http://schemas.openxmlformats.org/drawingml/2006/main">
            <a:pPr algn="l">
              <a:defRPr sz="1575" b="0">
                <a:solidFill>
                  <a:srgbClr val="C9D3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3EF"/>
                </a:solidFill>
                <a:latin typeface="Arial"/>
                <a:ea typeface="Arial"/>
                <a:cs typeface="Arial"/>
              </a:rPr>
              <a:t>LGG recall: 50% for both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6B7B-7700-4CFE-BFF6-220371B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One split only. This comparison does not establish a five-fold whole-brain result or general crop superiority.</a:t>
            </a:r>
          </a:p>
        </p:txBody>
      </p:sp>
    </p:spTree>
    <p:extLst>
      <p:ext uri="{BB962C8B-B14F-4D97-AF65-F5344CB8AC3E}">
        <p14:creationId xmlns:p14="http://schemas.microsoft.com/office/powerpoint/2010/main" val="1490098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314E9-9FA3-405D-A8D4-DEAC7D9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3305-BEC5-4C93-A0AB-DED6001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81062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8A348-1429-45DE-AF6F-3796181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13  ERRORS AND SCORE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7BB9D-9509-4864-9191-0E97541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Pooled predictions still contain 47 classification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3E90E-E4BE-49F0-B355-3A3A0141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BF4AB-31EC-4A9B-9EB9-407E904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B7E7B-127F-4501-8A4B-66969AE0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CONFUSION COUNTS, ROWS ARE TRUE CLASSES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967C1-D9EA-4B2D-B233-8467CB199B73}"/>
              </a:ext>
            </a:extLst>
          </p:cNvPr>
          <p:cNvGraphicFramePr/>
          <p:nvPr/>
        </p:nvGraphicFramePr>
        <p:xfrm>
          <a:off xmlns:a="http://schemas.openxmlformats.org/drawingml/2006/main" x="609600" y="2276475"/>
          <a:ext xmlns:a="http://schemas.openxmlformats.org/drawingml/2006/main" cx="5219700" cy="2257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1457325"/>
                <a:gridCol w="145732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/ predicted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LGG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HGG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LGG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DFF3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HGG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DFF3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9DE8D-2B42-44B8-B348-10988AF7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219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43"/>
                </a:solidFill>
                <a:latin typeface="Arial"/>
                <a:ea typeface="Arial"/>
                <a:cs typeface="Arial"/>
              </a:rPr>
              <a:t>15 LGG cases predicted HGG</a:t>
            </a:r>
          </a:p>
          <a:p xmlns:a="http://schemas.openxmlformats.org/drawingml/2006/main">
            <a:pPr algn="l">
              <a:defRPr sz="180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43"/>
                </a:solidFill>
                <a:latin typeface="Arial"/>
                <a:ea typeface="Arial"/>
                <a:cs typeface="Arial"/>
              </a:rPr>
              <a:t>32 HGG cases predicted LGG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71F85-940A-4B67-9869-19E90E5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5419725" cy="3781425"/>
          </a:xfrm>
          <a:prstGeom xmlns:a="http://schemas.openxmlformats.org/drawingml/2006/main" prst="roundRect">
            <a:avLst>
              <a:gd name="adj" fmla="val 2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7E4005A-922D-448E-88D0-FAED26FDC646}"/>
              </a:ext>
            </a:extLst>
          </p:cNvPr>
          <p:cNvGraphicFramePr/>
          <p:nvPr/>
        </p:nvGraphicFramePr>
        <p:xfrm>
          <a:off xmlns:a="http://schemas.openxmlformats.org/drawingml/2006/main" x="6334125" y="2000250"/>
          <a:ext xmlns:a="http://schemas.openxmlformats.org/drawingml/2006/main" cx="5010150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4b5481cedb4d0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3ACA7-AEBA-4F96-9998-C551E1D7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Example inference returns HGG score 0.984. Softmax scores have not been calibrated as diagnostic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88364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6D197-81EE-4A2B-8A50-9765902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33B59-F62F-417F-855B-BBF5133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42975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F1CC-0B79-4BA5-AE37-0EB968F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14  VALIDITY AND METHOD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15DEE-A575-44E8-AF0E-FDCE542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043"/>
                </a:solidFill>
                <a:latin typeface="Arial"/>
                <a:ea typeface="Arial"/>
                <a:cs typeface="Arial"/>
              </a:rPr>
              <a:t>The results require explicit limits on loss and generalization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AD69D-F9EE-4B06-B209-9BFED9C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A745C-7C21-4713-85B3-D0EEEA66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373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396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76EC7-C737-4725-BDF3-D1099267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53750" cy="1343025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0389C-8723-45E4-9EF5-AE81A6D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1053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E590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5904"/>
                </a:solidFill>
                <a:latin typeface="Arial"/>
                <a:ea typeface="Arial"/>
                <a:cs typeface="Arial"/>
              </a:rPr>
              <a:t>CLASS-WEIGHT CANCELLATION AT PHYSICAL BATCH SIZE 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452B3-37DD-4C1D-AE97-E2A199F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6A41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A4100"/>
                </a:solidFill>
                <a:latin typeface="Arial"/>
                <a:ea typeface="Arial"/>
                <a:cs typeface="Arial"/>
              </a:rPr>
              <a:t>Weighted mean loss = w(y) x CE / w(y) = 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1B373-449A-47F4-B3D5-7A8CDC81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1053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8E590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E5904"/>
                </a:solidFill>
                <a:latin typeface="Arial"/>
                <a:ea typeface="Arial"/>
                <a:cs typeface="Arial"/>
              </a:rPr>
              <a:t>Gradient accumulation does not undo a weight already cancelled inside each microbatch loss.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2E621-CBDC-4455-97A5-2632A45A3097}"/>
              </a:ext>
            </a:extLst>
          </p:cNvPr>
          <p:cNvGraphicFramePr/>
          <p:nvPr/>
        </p:nvGraphicFramePr>
        <p:xfrm>
          <a:off xmlns:a="http://schemas.openxmlformats.org/drawingml/2006/main" x="609600" y="3457575"/>
          <a:ext xmlns:a="http://schemas.openxmlformats.org/drawingml/2006/main" cx="1095375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67625"/>
              </a:tblGrid>
              <a:tr h="5086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present study establishes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T w="6668">
                      <a:solidFill>
                        <a:srgbClr val="D9DFEF"/>
                      </a:solidFill>
                      <a:prstDash val="solid"/>
                    </a:lnT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10183F"/>
                    </a:solidFill>
                  </a:tcPr>
                </a:tc>
              </a:tr>
              <a:tr h="5086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Supplied tumour masks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ROI performance assumes localization is available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One cohort and one seed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Internal performance, with descriptive fold variation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  <a:tr h="5086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Legacy HGG / LGG labels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Dataset grade prediction, not molecular diagnosis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No calibration or external test</a:t>
                      </a:r>
                    </a:p>
                  </a:txBody>
                  <a:tcPr marL="95250" marR="95250" marT="57150" marB="57150" anchor="ctr">
                    <a:lnL w="6668">
                      <a:solidFill>
                        <a:srgbClr val="D9DFEF"/>
                      </a:solidFill>
                      <a:prstDash val="solid"/>
                    </a:lnL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043"/>
                          </a:solidFill>
                          <a:latin typeface="Arial"/>
                          <a:ea typeface="Arial"/>
                          <a:cs typeface="Arial"/>
                        </a:rPr>
                        <a:t>No clinical confidence or new-hospital performance claim</a:t>
                      </a:r>
                    </a:p>
                  </a:txBody>
                  <a:tcPr marL="95250" marR="95250" marT="57150" marB="57150" anchor="ctr">
                    <a:lnR w="6668">
                      <a:solidFill>
                        <a:srgbClr val="D9DFEF"/>
                      </a:solidFill>
                      <a:prstDash val="solid"/>
                    </a:lnR>
                    <a:lnB w="6668">
                      <a:solidFill>
                        <a:srgbClr val="D9DFEF"/>
                      </a:solidFill>
                      <a:prstDash val="solid"/>
                    </a:lnB>
                    <a:solidFill>
                      <a:srgbClr val="F1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671016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1437"/>
            </a:gs>
            <a:gs pos="100000">
              <a:srgbClr val="2118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19114-3DAA-4F1B-8F27-9724E300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42AC3-AD3F-431D-9D44-92D4F10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48875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515A4-ECA7-4F56-B8CC-DE720884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0D7E5"/>
                </a:solidFill>
                <a:latin typeface="Arial"/>
                <a:ea typeface="Arial"/>
                <a:cs typeface="Arial"/>
              </a:rPr>
              <a:t>15 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59CCA-7F97-4816-BB13-D85ECB7E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3D baseline and a defined continuation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78115-30C5-41D5-9895-AA06E7D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Source: saved GPU experiment outputs,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EF736-1B08-4FE5-8565-962CE1F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812F-CF50-44D5-9FD5-A5C0F493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524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19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48584-4EB0-4115-8CE2-25B1798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AE0F-48FC-401B-848E-E0D7FB7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00AFC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AF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7DD5A-DB54-48E3-9D74-0850F67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Completed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4A293-3C28-493A-BF60-3CAD7C8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3CFEC"/>
                </a:solidFill>
                <a:latin typeface="Arial"/>
                <a:ea typeface="Arial"/>
                <a:cs typeface="Arial"/>
              </a:rPr>
              <a:t>Native 3D MRI, patient partitions, saved checkpoints and inference.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03219-A4E7-443C-B80B-95EDB51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524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19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CF954-4691-448C-AFA0-980BF135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A9445-32AD-4002-B3FC-6F55410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E5A02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5A0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0747E-A653-4513-8364-EAB362B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Internal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F93C-94F3-40CC-AEB4-809C57D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3CFEC"/>
                </a:solidFill>
                <a:latin typeface="Arial"/>
                <a:ea typeface="Arial"/>
                <a:cs typeface="Arial"/>
              </a:rPr>
              <a:t>84.67% pooled balanced accuracy across 369 held-out predictions.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CF8AE-6FD2-4989-9A37-8EEE0188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524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192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77525-46A4-4BD4-8945-B46251BE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A90C1-89FD-416F-9FB0-AB09BF2D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A695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695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68AB1-A1A6-4948-8365-14C4BB18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Matched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3B0FE-E34D-4E87-AC7B-7CC7EC1B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3CF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3CFEC"/>
                </a:solidFill>
                <a:latin typeface="Arial"/>
                <a:ea typeface="Arial"/>
                <a:cs typeface="Arial"/>
              </a:rPr>
              <a:t>ROI exceeds whole brain on the fixed split; mask dependency remains.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9F119-A164-4594-9636-D89B9B1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3340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34A0D-DFE8-4D1F-8AD8-AB076949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491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4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48E8"/>
                </a:solidFill>
                <a:latin typeface="Arial"/>
                <a:ea typeface="Arial"/>
                <a:cs typeface="Arial"/>
              </a:rPr>
              <a:t>NEXT EXPERIMENTS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60AF0-2AB5-40D2-B616-93A72D44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043"/>
                </a:solidFill>
                <a:latin typeface="Arial"/>
                <a:ea typeface="Arial"/>
                <a:cs typeface="Arial"/>
              </a:rPr>
              <a:t>Correct class weighting and accumulation. Repeat matched folds and seeds. Then test transfer or self-supervised learning.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DD55E-929E-46AB-9869-BE27209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37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BC245-0C76-465F-B990-22B78D7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624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A5B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A5B69"/>
                </a:solidFill>
                <a:latin typeface="Arial"/>
                <a:ea typeface="Arial"/>
                <a:cs typeface="Arial"/>
              </a:rPr>
              <a:t>RESEARCH 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99202-5236-4652-83EA-193F9E76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520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043"/>
                </a:solidFill>
                <a:latin typeface="Arial"/>
                <a:ea typeface="Arial"/>
                <a:cs typeface="Arial"/>
              </a:rPr>
              <a:t>An academic supervised baseline on BraTS. External validation and clinical evaluation remain unperformed.</a:t>
            </a:r>
          </a:p>
        </p:txBody>
      </p:sp>
    </p:spTree>
    <p:extLst>
      <p:ext uri="{BB962C8B-B14F-4D97-AF65-F5344CB8AC3E}">
        <p14:creationId xmlns:p14="http://schemas.microsoft.com/office/powerpoint/2010/main" val="78201952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1437"/>
            </a:gs>
            <a:gs pos="100000">
              <a:srgbClr val="2118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FA6CE-32FD-49CD-ABC8-78DDBEA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07AB9-ADEE-4801-8957-ABC5995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9CB"/>
              </a:gs>
              <a:gs pos="100000">
                <a:srgbClr val="7048E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AF1AF-0404-4D25-AF89-53722CA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0D7E5"/>
                </a:solidFill>
                <a:latin typeface="Arial"/>
                <a:ea typeface="Arial"/>
                <a:cs typeface="Arial"/>
              </a:rPr>
              <a:t>16  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921A-C979-4939-9767-AD46D841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EEC39-C995-43EB-A027-96F4304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Ayush Goel   23CH10092   Department of Chemical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1644C-0442-4C17-9404-D9F7C61C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BCC9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CC9ED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2E2F4-E7BE-4E44-A1C9-09354AC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15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 Level Glioma Grade Classification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Multimodal 3D MRI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E58F3-FA5B-4F71-B5C9-DC2DB21F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CFED"/>
                </a:solidFill>
                <a:latin typeface="Arial"/>
                <a:ea typeface="Arial"/>
                <a:cs typeface="Arial"/>
              </a:rPr>
              <a:t>Supervisor: Prof. Nikita Saxena</a:t>
            </a:r>
          </a:p>
          <a:p xmlns:a="http://schemas.openxmlformats.org/drawingml/2006/main">
            <a:pPr algn="l">
              <a:defRPr sz="1800" b="0">
                <a:solidFill>
                  <a:srgbClr val="C4CF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CFED"/>
                </a:solidFill>
                <a:latin typeface="Arial"/>
                <a:ea typeface="Arial"/>
                <a:cs typeface="Arial"/>
              </a:rPr>
              <a:t>Indian Institute of Technology Kharagpur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544E6-4D29-41FB-9BCB-B1E274A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18859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172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ACC61-F438-4FBA-BEA3-137AD24B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53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0D7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0D7E5"/>
                </a:solidFill>
                <a:latin typeface="Arial"/>
                <a:ea typeface="Arial"/>
                <a:cs typeface="Arial"/>
              </a:rPr>
              <a:t>SELECTED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8577C-97CC-4D2A-96A2-4EAEC72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5076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BraTS 2020 data, CBICA, University of Pennsylvania</a:t>
            </a:r>
          </a:p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Menze et al., IEEE TMI, 2015</a:t>
            </a:r>
          </a:p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Bakas et al., Scientific Data, 2017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541AB-09D8-420F-804A-D2876A2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52975"/>
            <a:ext cx="5010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He et al., Residual Learning, CVPR 2016</a:t>
            </a:r>
          </a:p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Wu and He, Group Normalization, ECCV 2018</a:t>
            </a:r>
          </a:p>
          <a:p xmlns:a="http://schemas.openxmlformats.org/drawingml/2006/main">
            <a:pPr algn="l">
              <a:defRPr sz="1425" b="0">
                <a:solidFill>
                  <a:srgbClr val="D1DA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F1"/>
                </a:solidFill>
                <a:latin typeface="Arial"/>
                <a:ea typeface="Arial"/>
                <a:cs typeface="Arial"/>
              </a:rPr>
              <a:t>PyTorch 2.11, CrossEntropyLoss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527911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2026-10-30T11:34:11.0260000Z</dcterms:created>
  <dcterms:modified xsi:type="dcterms:W3CDTF">2026-10-30T11:34:11.0260000Z</dcterms:modified>
</coreProperties>
</file>